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A6C3F6F9-D39C-4260-9CAA-44153410834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BC403E-B349-4C8A-9E23-32AA87CA7FF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CBB9A1A-0627-40BA-9495-A47BB4BABB6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79BB777-49D5-43EE-9ECC-28BE9116F94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711F0FE-74AB-472A-8A7A-1312D373262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C0E43BF-2AD4-48C3-BED2-AEEB6CE1BE9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8F4278A-8520-45CD-9176-F0B873552B8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2A5D5D2-6AA8-4E4F-818B-6FA4B7189B6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208A81-0396-4511-8361-D5A34EDE08B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CA87A41-2D9E-4581-BAD3-F703D9BF74A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5A859DB-BC1C-4153-A2D9-7729684FDCE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7A3A23-E0C6-4CB9-8E98-7C9840AFE25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3D1CFBE-87FB-43F2-BFF7-7AC3245A360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BF8FFDD-1A7B-44EE-BAD3-6CEE2F47FD1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65D0CFF-7D2F-46FE-A8D8-D0220B1ED7E2}" type="slidenum">
              <a:t>&lt;#&gt;</a:t>
            </a:fld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chemeClr val="dk2"/>
                </a:solidFill>
                <a:latin typeface="Calibri"/>
              </a:rPr>
              <a:t>ClockLend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sldNum" idx="1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1EACCC-A63E-4CDB-93C7-25789569F6B0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6949440" y="1280160"/>
            <a:ext cx="4571640" cy="4571640"/>
          </a:xfrm>
          <a:prstGeom prst="ellipse">
            <a:avLst/>
          </a:prstGeom>
          <a:solidFill>
            <a:srgbClr val="16286e"/>
          </a:solidFill>
          <a:ln w="12700">
            <a:solidFill>
              <a:srgbClr val="1628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3" name="Image 0" descr="ClockLend logo"/>
          <p:cNvPicPr/>
          <p:nvPr/>
        </p:nvPicPr>
        <p:blipFill>
          <a:blip r:embed="rId1"/>
          <a:stretch/>
        </p:blipFill>
        <p:spPr>
          <a:xfrm>
            <a:off x="731520" y="731520"/>
            <a:ext cx="868320" cy="859320"/>
          </a:xfrm>
          <a:prstGeom prst="rect">
            <a:avLst/>
          </a:prstGeom>
          <a:ln w="0">
            <a:noFill/>
          </a:ln>
        </p:spPr>
      </p:pic>
      <p:sp>
        <p:nvSpPr>
          <p:cNvPr id="14" name="Text 1"/>
          <p:cNvSpPr/>
          <p:nvPr/>
        </p:nvSpPr>
        <p:spPr>
          <a:xfrm>
            <a:off x="731520" y="2011680"/>
            <a:ext cx="6400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600" spc="-1" strike="noStrike">
                <a:solidFill>
                  <a:schemeClr val="lt1"/>
                </a:solidFill>
                <a:latin typeface="Calibri"/>
              </a:rPr>
              <a:t>ClockLend</a:t>
            </a:r>
            <a:endParaRPr b="0" lang="en-US" sz="6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2"/>
          <p:cNvSpPr/>
          <p:nvPr/>
        </p:nvSpPr>
        <p:spPr>
          <a:xfrm>
            <a:off x="731520" y="3108960"/>
            <a:ext cx="603468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chemeClr val="accent3"/>
                </a:solidFill>
                <a:latin typeface="Calibri"/>
              </a:rPr>
              <a:t>Stake SKR, borrow stablecoin and keep earning while it’s locked.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3"/>
          <p:cNvSpPr/>
          <p:nvPr/>
        </p:nvSpPr>
        <p:spPr>
          <a:xfrm>
            <a:off x="731520" y="603504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2"/>
                </a:solidFill>
                <a:latin typeface="Calibri"/>
              </a:rPr>
              <a:t>Solana Mobile CLOCK IN Hackathon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" name="Image 1" descr="ClockLend app screen"/>
          <p:cNvPicPr/>
          <p:nvPr/>
        </p:nvPicPr>
        <p:blipFill>
          <a:blip r:embed="rId2"/>
          <a:stretch/>
        </p:blipFill>
        <p:spPr>
          <a:xfrm>
            <a:off x="7781760" y="502920"/>
            <a:ext cx="2907360" cy="5851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One price dip can wipe out a small crypto loan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card"/>
          <p:cNvSpPr/>
          <p:nvPr/>
        </p:nvSpPr>
        <p:spPr>
          <a:xfrm>
            <a:off x="640080" y="1737360"/>
            <a:ext cx="10881000" cy="127980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" name="Shape 2"/>
          <p:cNvSpPr/>
          <p:nvPr/>
        </p:nvSpPr>
        <p:spPr>
          <a:xfrm>
            <a:off x="960120" y="2039040"/>
            <a:ext cx="676440" cy="6764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1" name="Image 0" descr="icon"/>
          <p:cNvPicPr/>
          <p:nvPr/>
        </p:nvPicPr>
        <p:blipFill>
          <a:blip r:embed="rId1"/>
          <a:stretch/>
        </p:blipFill>
        <p:spPr>
          <a:xfrm>
            <a:off x="1136160" y="2215080"/>
            <a:ext cx="324360" cy="324360"/>
          </a:xfrm>
          <a:prstGeom prst="rect">
            <a:avLst/>
          </a:prstGeom>
          <a:ln w="0">
            <a:noFill/>
          </a:ln>
        </p:spPr>
      </p:pic>
      <p:sp>
        <p:nvSpPr>
          <p:cNvPr id="22" name="Text 3"/>
          <p:cNvSpPr/>
          <p:nvPr/>
        </p:nvSpPr>
        <p:spPr>
          <a:xfrm>
            <a:off x="1965960" y="1920240"/>
            <a:ext cx="9235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Quick to punish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1965960" y="2322720"/>
            <a:ext cx="9235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2"/>
                </a:solidFill>
                <a:latin typeface="Calibri"/>
              </a:rPr>
              <a:t>A sudden price dip can trigger an automatic sale of your collateral before you can react.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card"/>
          <p:cNvSpPr/>
          <p:nvPr/>
        </p:nvSpPr>
        <p:spPr>
          <a:xfrm>
            <a:off x="640080" y="3200400"/>
            <a:ext cx="10881000" cy="127980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960120" y="3502080"/>
            <a:ext cx="676440" cy="6764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6" name="Image 1" descr="icon"/>
          <p:cNvPicPr/>
          <p:nvPr/>
        </p:nvPicPr>
        <p:blipFill>
          <a:blip r:embed="rId2"/>
          <a:stretch/>
        </p:blipFill>
        <p:spPr>
          <a:xfrm>
            <a:off x="1136160" y="3678120"/>
            <a:ext cx="324360" cy="324360"/>
          </a:xfrm>
          <a:prstGeom prst="rect">
            <a:avLst/>
          </a:prstGeom>
          <a:ln w="0">
            <a:noFill/>
          </a:ln>
        </p:spPr>
      </p:pic>
      <p:sp>
        <p:nvSpPr>
          <p:cNvPr id="27" name="Text 7"/>
          <p:cNvSpPr/>
          <p:nvPr/>
        </p:nvSpPr>
        <p:spPr>
          <a:xfrm>
            <a:off x="1965960" y="3383280"/>
            <a:ext cx="9235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No social context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 8"/>
          <p:cNvSpPr/>
          <p:nvPr/>
        </p:nvSpPr>
        <p:spPr>
          <a:xfrm>
            <a:off x="1965960" y="3785760"/>
            <a:ext cx="9235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2"/>
                </a:solidFill>
                <a:latin typeface="Calibri"/>
              </a:rPr>
              <a:t>Protocols rarely account for trusted circles, friends, communities or bilateral credit.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card"/>
          <p:cNvSpPr/>
          <p:nvPr/>
        </p:nvSpPr>
        <p:spPr>
          <a:xfrm>
            <a:off x="640080" y="4663440"/>
            <a:ext cx="10881000" cy="127980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Shape 10"/>
          <p:cNvSpPr/>
          <p:nvPr/>
        </p:nvSpPr>
        <p:spPr>
          <a:xfrm>
            <a:off x="960120" y="4965120"/>
            <a:ext cx="676440" cy="6764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31" name="Image 2" descr="icon"/>
          <p:cNvPicPr/>
          <p:nvPr/>
        </p:nvPicPr>
        <p:blipFill>
          <a:blip r:embed="rId3"/>
          <a:stretch/>
        </p:blipFill>
        <p:spPr>
          <a:xfrm>
            <a:off x="1136160" y="5141160"/>
            <a:ext cx="324360" cy="324360"/>
          </a:xfrm>
          <a:prstGeom prst="rect">
            <a:avLst/>
          </a:prstGeom>
          <a:ln w="0">
            <a:noFill/>
          </a:ln>
        </p:spPr>
      </p:pic>
      <p:sp>
        <p:nvSpPr>
          <p:cNvPr id="32" name="Text 11"/>
          <p:cNvSpPr/>
          <p:nvPr/>
        </p:nvSpPr>
        <p:spPr>
          <a:xfrm>
            <a:off x="1965960" y="4846320"/>
            <a:ext cx="9235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Mobile gap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12"/>
          <p:cNvSpPr/>
          <p:nvPr/>
        </p:nvSpPr>
        <p:spPr>
          <a:xfrm>
            <a:off x="1965960" y="5248800"/>
            <a:ext cx="9235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2"/>
                </a:solidFill>
                <a:latin typeface="Calibri"/>
              </a:rPr>
              <a:t>Most lending apps are built for desktop experts, not for people borrowing from their phones.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sldNum" idx="5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3D8CA9-1314-4647-BFD2-F8C92FD77C14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A different safety model from major Solana lenders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640080" y="173736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5"/>
                </a:solidFill>
                <a:latin typeface="Calibri"/>
              </a:rPr>
              <a:t>KAMINO / MARGINFI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2"/>
          <p:cNvSpPr/>
          <p:nvPr/>
        </p:nvSpPr>
        <p:spPr>
          <a:xfrm>
            <a:off x="640080" y="2194560"/>
            <a:ext cx="3565800" cy="7311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rgbClr val="e6e0c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Text 3"/>
          <p:cNvSpPr/>
          <p:nvPr/>
        </p:nvSpPr>
        <p:spPr>
          <a:xfrm>
            <a:off x="640080" y="219456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Position health falls below threshold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4"/>
          <p:cNvSpPr/>
          <p:nvPr/>
        </p:nvSpPr>
        <p:spPr>
          <a:xfrm>
            <a:off x="640080" y="29444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2"/>
                </a:solidFill>
                <a:latin typeface="Calibri"/>
              </a:rPr>
              <a:t>↓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Shape 5"/>
          <p:cNvSpPr/>
          <p:nvPr/>
        </p:nvSpPr>
        <p:spPr>
          <a:xfrm>
            <a:off x="640080" y="3337560"/>
            <a:ext cx="3565800" cy="7311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rgbClr val="e6e0c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Text 6"/>
          <p:cNvSpPr/>
          <p:nvPr/>
        </p:nvSpPr>
        <p:spPr>
          <a:xfrm>
            <a:off x="640080" y="333756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Position becomes eligible for liquidation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7"/>
          <p:cNvSpPr/>
          <p:nvPr/>
        </p:nvSpPr>
        <p:spPr>
          <a:xfrm>
            <a:off x="640080" y="40874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2"/>
                </a:solidFill>
                <a:latin typeface="Calibri"/>
              </a:rPr>
              <a:t>↓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8"/>
          <p:cNvSpPr/>
          <p:nvPr/>
        </p:nvSpPr>
        <p:spPr>
          <a:xfrm>
            <a:off x="640080" y="4480560"/>
            <a:ext cx="3565800" cy="7311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rgbClr val="e6e0c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4" name="Text 9"/>
          <p:cNvSpPr/>
          <p:nvPr/>
        </p:nvSpPr>
        <p:spPr>
          <a:xfrm>
            <a:off x="640080" y="448056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Collateral may be seized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10"/>
          <p:cNvSpPr/>
          <p:nvPr/>
        </p:nvSpPr>
        <p:spPr>
          <a:xfrm>
            <a:off x="4434840" y="173736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1"/>
                </a:solidFill>
                <a:latin typeface="Calibri"/>
              </a:rPr>
              <a:t>CLOCKLEND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11"/>
          <p:cNvSpPr/>
          <p:nvPr/>
        </p:nvSpPr>
        <p:spPr>
          <a:xfrm>
            <a:off x="4434840" y="2194560"/>
            <a:ext cx="3565800" cy="73116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rgbClr val="0b10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" name="Text 12"/>
          <p:cNvSpPr/>
          <p:nvPr/>
        </p:nvSpPr>
        <p:spPr>
          <a:xfrm>
            <a:off x="4434840" y="219456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Loan reaches its due time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13"/>
          <p:cNvSpPr/>
          <p:nvPr/>
        </p:nvSpPr>
        <p:spPr>
          <a:xfrm>
            <a:off x="4434840" y="29444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2"/>
                </a:solidFill>
                <a:latin typeface="Calibri"/>
              </a:rPr>
              <a:t>↓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Shape 14"/>
          <p:cNvSpPr/>
          <p:nvPr/>
        </p:nvSpPr>
        <p:spPr>
          <a:xfrm>
            <a:off x="4434840" y="3337560"/>
            <a:ext cx="3565800" cy="73116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rgbClr val="0b10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0" name="Text 15"/>
          <p:cNvSpPr/>
          <p:nvPr/>
        </p:nvSpPr>
        <p:spPr>
          <a:xfrm>
            <a:off x="4434840" y="333756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24-hour rescue window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16"/>
          <p:cNvSpPr/>
          <p:nvPr/>
        </p:nvSpPr>
        <p:spPr>
          <a:xfrm>
            <a:off x="4434840" y="40874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2"/>
                </a:solidFill>
                <a:latin typeface="Calibri"/>
              </a:rPr>
              <a:t>↓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Shape 17"/>
          <p:cNvSpPr/>
          <p:nvPr/>
        </p:nvSpPr>
        <p:spPr>
          <a:xfrm>
            <a:off x="4434840" y="4480560"/>
            <a:ext cx="3565800" cy="73116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rgbClr val="0b10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3" name="Text 18"/>
          <p:cNvSpPr/>
          <p:nvPr/>
        </p:nvSpPr>
        <p:spPr>
          <a:xfrm>
            <a:off x="4434840" y="448056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Repay — or raise funds before settlement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card"/>
          <p:cNvSpPr/>
          <p:nvPr/>
        </p:nvSpPr>
        <p:spPr>
          <a:xfrm>
            <a:off x="8229600" y="2194560"/>
            <a:ext cx="3291480" cy="3017160"/>
          </a:xfrm>
          <a:prstGeom prst="roundRect">
            <a:avLst>
              <a:gd name="adj" fmla="val 3636"/>
            </a:avLst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" name="Text 20"/>
          <p:cNvSpPr/>
          <p:nvPr/>
        </p:nvSpPr>
        <p:spPr>
          <a:xfrm>
            <a:off x="8503920" y="246888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3"/>
                </a:solidFill>
                <a:latin typeface="Calibri"/>
              </a:rPr>
              <a:t>THE DIFFERENCE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21"/>
          <p:cNvSpPr/>
          <p:nvPr/>
        </p:nvSpPr>
        <p:spPr>
          <a:xfrm>
            <a:off x="8503920" y="2834640"/>
            <a:ext cx="274284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</a:rPr>
              <a:t>Kamino and Marginfi use collateral-health and liquidation rules, not a universal missed-payment clock. ClockLend is designed around fixed-term loans with a visible 24-hour rescue window after the due time.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22"/>
          <p:cNvSpPr/>
          <p:nvPr/>
        </p:nvSpPr>
        <p:spPr>
          <a:xfrm>
            <a:off x="640080" y="5440680"/>
            <a:ext cx="10881000" cy="685440"/>
          </a:xfrm>
          <a:prstGeom prst="roundRect">
            <a:avLst>
              <a:gd name="adj" fmla="val 49333"/>
            </a:avLst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Text 23"/>
          <p:cNvSpPr/>
          <p:nvPr/>
        </p:nvSpPr>
        <p:spPr>
          <a:xfrm>
            <a:off x="640080" y="5440680"/>
            <a:ext cx="10881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Why onchain: escrow and loan rules are enforced by the program; the rescue window is a defined rule, not a discretionary promise.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sldNum" idx="6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2C45896-090C-4746-BC44-7B859FBD9C8C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See it working: find a desk, borrow, repay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1" name="Image 0" descr="ClockLend app screen"/>
          <p:cNvPicPr/>
          <p:nvPr/>
        </p:nvPicPr>
        <p:blipFill>
          <a:blip r:embed="rId1"/>
          <a:stretch/>
        </p:blipFill>
        <p:spPr>
          <a:xfrm>
            <a:off x="1446840" y="1508760"/>
            <a:ext cx="2044080" cy="4114440"/>
          </a:xfrm>
          <a:prstGeom prst="rect">
            <a:avLst/>
          </a:prstGeom>
          <a:ln w="0">
            <a:noFill/>
          </a:ln>
        </p:spPr>
      </p:pic>
      <p:sp>
        <p:nvSpPr>
          <p:cNvPr id="62" name="Text 1"/>
          <p:cNvSpPr/>
          <p:nvPr/>
        </p:nvSpPr>
        <p:spPr>
          <a:xfrm>
            <a:off x="640080" y="57150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1"/>
                </a:solidFill>
                <a:latin typeface="Calibri"/>
              </a:rPr>
              <a:t>1 · YOUR HOME BASE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2"/>
          <p:cNvSpPr/>
          <p:nvPr/>
        </p:nvSpPr>
        <p:spPr>
          <a:xfrm>
            <a:off x="640080" y="601668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chemeClr val="dk2"/>
                </a:solidFill>
                <a:latin typeface="Calibri"/>
              </a:rPr>
              <a:t>Balance, activity and credit ranking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4" name="Image 1" descr="ClockLend app screen"/>
          <p:cNvPicPr/>
          <p:nvPr/>
        </p:nvPicPr>
        <p:blipFill>
          <a:blip r:embed="rId2"/>
          <a:stretch/>
        </p:blipFill>
        <p:spPr>
          <a:xfrm>
            <a:off x="5028840" y="1508760"/>
            <a:ext cx="2140200" cy="4114440"/>
          </a:xfrm>
          <a:prstGeom prst="rect">
            <a:avLst/>
          </a:prstGeom>
          <a:ln w="0">
            <a:noFill/>
          </a:ln>
        </p:spPr>
      </p:pic>
      <p:sp>
        <p:nvSpPr>
          <p:cNvPr id="65" name="Text 3"/>
          <p:cNvSpPr/>
          <p:nvPr/>
        </p:nvSpPr>
        <p:spPr>
          <a:xfrm>
            <a:off x="4270320" y="57150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1"/>
                </a:solidFill>
                <a:latin typeface="Calibri"/>
              </a:rPr>
              <a:t>2 · FIND A DESK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4"/>
          <p:cNvSpPr/>
          <p:nvPr/>
        </p:nvSpPr>
        <p:spPr>
          <a:xfrm>
            <a:off x="4270320" y="601668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defRPr sz="1300">
                <a:latin typeface="Calibri"/>
              </a:defRPr>
            </a:pPr>
            <a:r>
              <a:t>Compare rates, limits and funds — Genesis Desk #2 live with $50.02 USDC at 8% APR</a:t>
            </a:r>
          </a:p>
        </p:txBody>
      </p:sp>
      <p:pic>
        <p:nvPicPr>
          <p:cNvPr id="67" name="Image 2" descr="ClockLend app screen"/>
          <p:cNvPicPr/>
          <p:nvPr/>
        </p:nvPicPr>
        <p:blipFill>
          <a:blip r:embed="rId3"/>
          <a:stretch/>
        </p:blipFill>
        <p:spPr>
          <a:xfrm>
            <a:off x="8649720" y="1508760"/>
            <a:ext cx="2140200" cy="4114440"/>
          </a:xfrm>
          <a:prstGeom prst="rect">
            <a:avLst/>
          </a:prstGeom>
          <a:ln w="0">
            <a:noFill/>
          </a:ln>
        </p:spPr>
      </p:pic>
      <p:sp>
        <p:nvSpPr>
          <p:cNvPr id="68" name="Text 5"/>
          <p:cNvSpPr/>
          <p:nvPr/>
        </p:nvSpPr>
        <p:spPr>
          <a:xfrm>
            <a:off x="7891200" y="57150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1"/>
                </a:solidFill>
                <a:latin typeface="Calibri"/>
              </a:rPr>
              <a:t>3 · REPAY WITH CONFIDENCE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6"/>
          <p:cNvSpPr/>
          <p:nvPr/>
        </p:nvSpPr>
        <p:spPr>
          <a:xfrm>
            <a:off x="7891200" y="601668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defRPr sz="1300">
                <a:latin typeface="Calibri"/>
              </a:defRPr>
            </a:pPr>
            <a:r>
              <a:t>Live countdown and one-tap settlement — verified 100% repayment on Seeker hardware</a:t>
            </a:r>
          </a:p>
        </p:txBody>
      </p:sp>
      <p:sp>
        <p:nvSpPr>
          <p:cNvPr id="70" name="PlaceHolder 1"/>
          <p:cNvSpPr>
            <a:spLocks noGrp="1"/>
          </p:cNvSpPr>
          <p:nvPr>
            <p:ph type="sldNum" idx="7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2DCDE1-F98D-4006-9E8F-7FE99102CC3B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How it works: six steps from request to repayment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"/>
          <p:cNvSpPr/>
          <p:nvPr/>
        </p:nvSpPr>
        <p:spPr>
          <a:xfrm>
            <a:off x="1508760" y="2057400"/>
            <a:ext cx="9052560" cy="360"/>
          </a:xfrm>
          <a:prstGeom prst="line">
            <a:avLst/>
          </a:prstGeom>
          <a:ln w="25400">
            <a:solidFill>
              <a:srgbClr val="e6e0c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3" name="Shape 2"/>
          <p:cNvSpPr/>
          <p:nvPr/>
        </p:nvSpPr>
        <p:spPr>
          <a:xfrm>
            <a:off x="1143000" y="1691640"/>
            <a:ext cx="731160" cy="7311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af7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4" name="Text 3"/>
          <p:cNvSpPr/>
          <p:nvPr/>
        </p:nvSpPr>
        <p:spPr>
          <a:xfrm>
            <a:off x="1143000" y="169164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lt1"/>
                </a:solidFill>
                <a:latin typeface="Calibri"/>
              </a:rPr>
              <a:t>1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4"/>
          <p:cNvSpPr/>
          <p:nvPr/>
        </p:nvSpPr>
        <p:spPr>
          <a:xfrm>
            <a:off x="685800" y="260604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Connect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5"/>
          <p:cNvSpPr/>
          <p:nvPr/>
        </p:nvSpPr>
        <p:spPr>
          <a:xfrm>
            <a:off x="685800" y="3017520"/>
            <a:ext cx="164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Your Seeker wallet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6"/>
          <p:cNvSpPr/>
          <p:nvPr/>
        </p:nvSpPr>
        <p:spPr>
          <a:xfrm>
            <a:off x="2953440" y="1691640"/>
            <a:ext cx="731160" cy="7311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af7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8" name="Text 7"/>
          <p:cNvSpPr/>
          <p:nvPr/>
        </p:nvSpPr>
        <p:spPr>
          <a:xfrm>
            <a:off x="2953440" y="169164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lt1"/>
                </a:solidFill>
                <a:latin typeface="Calibri"/>
              </a:rPr>
              <a:t>2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8"/>
          <p:cNvSpPr/>
          <p:nvPr/>
        </p:nvSpPr>
        <p:spPr>
          <a:xfrm>
            <a:off x="2496240" y="260604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Request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9"/>
          <p:cNvSpPr/>
          <p:nvPr/>
        </p:nvSpPr>
        <p:spPr>
          <a:xfrm>
            <a:off x="2496240" y="3017520"/>
            <a:ext cx="164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Amount, collateral and time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10"/>
          <p:cNvSpPr/>
          <p:nvPr/>
        </p:nvSpPr>
        <p:spPr>
          <a:xfrm>
            <a:off x="4763880" y="1691640"/>
            <a:ext cx="731160" cy="7311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af7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2" name="Text 11"/>
          <p:cNvSpPr/>
          <p:nvPr/>
        </p:nvSpPr>
        <p:spPr>
          <a:xfrm>
            <a:off x="4763880" y="169164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lt1"/>
                </a:solidFill>
                <a:latin typeface="Calibri"/>
              </a:rPr>
              <a:t>3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12"/>
          <p:cNvSpPr/>
          <p:nvPr/>
        </p:nvSpPr>
        <p:spPr>
          <a:xfrm>
            <a:off x="4306680" y="260604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Match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13"/>
          <p:cNvSpPr/>
          <p:nvPr/>
        </p:nvSpPr>
        <p:spPr>
          <a:xfrm>
            <a:off x="4306680" y="3017520"/>
            <a:ext cx="164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We find the best desk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14"/>
          <p:cNvSpPr/>
          <p:nvPr/>
        </p:nvSpPr>
        <p:spPr>
          <a:xfrm>
            <a:off x="6574680" y="1691640"/>
            <a:ext cx="731160" cy="7311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af7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6" name="Text 15"/>
          <p:cNvSpPr/>
          <p:nvPr/>
        </p:nvSpPr>
        <p:spPr>
          <a:xfrm>
            <a:off x="6574680" y="169164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lt1"/>
                </a:solidFill>
                <a:latin typeface="Calibri"/>
              </a:rPr>
              <a:t>4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16"/>
          <p:cNvSpPr/>
          <p:nvPr/>
        </p:nvSpPr>
        <p:spPr>
          <a:xfrm>
            <a:off x="6117480" y="260604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Lock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17"/>
          <p:cNvSpPr/>
          <p:nvPr/>
        </p:nvSpPr>
        <p:spPr>
          <a:xfrm>
            <a:off x="6117480" y="3017520"/>
            <a:ext cx="164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Collateral goes into escrow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18"/>
          <p:cNvSpPr/>
          <p:nvPr/>
        </p:nvSpPr>
        <p:spPr>
          <a:xfrm>
            <a:off x="8385120" y="1691640"/>
            <a:ext cx="731160" cy="7311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af7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0" name="Text 19"/>
          <p:cNvSpPr/>
          <p:nvPr/>
        </p:nvSpPr>
        <p:spPr>
          <a:xfrm>
            <a:off x="8385120" y="169164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lt1"/>
                </a:solidFill>
                <a:latin typeface="Calibri"/>
              </a:rPr>
              <a:t>5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20"/>
          <p:cNvSpPr/>
          <p:nvPr/>
        </p:nvSpPr>
        <p:spPr>
          <a:xfrm>
            <a:off x="7927920" y="260604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Receive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21"/>
          <p:cNvSpPr/>
          <p:nvPr/>
        </p:nvSpPr>
        <p:spPr>
          <a:xfrm>
            <a:off x="7927920" y="3017520"/>
            <a:ext cx="164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Funds land in your wallet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22"/>
          <p:cNvSpPr/>
          <p:nvPr/>
        </p:nvSpPr>
        <p:spPr>
          <a:xfrm>
            <a:off x="10195560" y="1691640"/>
            <a:ext cx="731160" cy="7311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af7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4" name="Text 23"/>
          <p:cNvSpPr/>
          <p:nvPr/>
        </p:nvSpPr>
        <p:spPr>
          <a:xfrm>
            <a:off x="10195560" y="169164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lt1"/>
                </a:solidFill>
                <a:latin typeface="Calibri"/>
              </a:rPr>
              <a:t>6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24"/>
          <p:cNvSpPr/>
          <p:nvPr/>
        </p:nvSpPr>
        <p:spPr>
          <a:xfrm>
            <a:off x="9738360" y="260604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Repay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25"/>
          <p:cNvSpPr/>
          <p:nvPr/>
        </p:nvSpPr>
        <p:spPr>
          <a:xfrm>
            <a:off x="9738360" y="3017520"/>
            <a:ext cx="164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Principal plus interest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card"/>
          <p:cNvSpPr/>
          <p:nvPr/>
        </p:nvSpPr>
        <p:spPr>
          <a:xfrm>
            <a:off x="640080" y="4160520"/>
            <a:ext cx="5321520" cy="187416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8" name="Shape 27"/>
          <p:cNvSpPr/>
          <p:nvPr/>
        </p:nvSpPr>
        <p:spPr>
          <a:xfrm>
            <a:off x="914400" y="4434840"/>
            <a:ext cx="639720" cy="639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99" name="Image 0" descr="icon"/>
          <p:cNvPicPr/>
          <p:nvPr/>
        </p:nvPicPr>
        <p:blipFill>
          <a:blip r:embed="rId1"/>
          <a:stretch/>
        </p:blipFill>
        <p:spPr>
          <a:xfrm>
            <a:off x="1080720" y="460116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100" name="Text 28"/>
          <p:cNvSpPr/>
          <p:nvPr/>
        </p:nvSpPr>
        <p:spPr>
          <a:xfrm>
            <a:off x="1783080" y="4434840"/>
            <a:ext cx="3931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Rules enforced by code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29"/>
          <p:cNvSpPr/>
          <p:nvPr/>
        </p:nvSpPr>
        <p:spPr>
          <a:xfrm>
            <a:off x="1783080" y="4846320"/>
            <a:ext cx="3931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Escrow and loan terms are enforced by the program, not by people.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card"/>
          <p:cNvSpPr/>
          <p:nvPr/>
        </p:nvSpPr>
        <p:spPr>
          <a:xfrm>
            <a:off x="6199560" y="4160520"/>
            <a:ext cx="5321520" cy="187416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3" name="Shape 31"/>
          <p:cNvSpPr/>
          <p:nvPr/>
        </p:nvSpPr>
        <p:spPr>
          <a:xfrm>
            <a:off x="6473880" y="4434840"/>
            <a:ext cx="639720" cy="6397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04" name="Image 1" descr="icon"/>
          <p:cNvPicPr/>
          <p:nvPr/>
        </p:nvPicPr>
        <p:blipFill>
          <a:blip r:embed="rId2"/>
          <a:stretch/>
        </p:blipFill>
        <p:spPr>
          <a:xfrm>
            <a:off x="6640200" y="460116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105" name="Text 32"/>
          <p:cNvSpPr/>
          <p:nvPr/>
        </p:nvSpPr>
        <p:spPr>
          <a:xfrm>
            <a:off x="7342560" y="4434840"/>
            <a:ext cx="3931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A clock you can see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33"/>
          <p:cNvSpPr/>
          <p:nvPr/>
        </p:nvSpPr>
        <p:spPr>
          <a:xfrm>
            <a:off x="7342560" y="4846320"/>
            <a:ext cx="3931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Every loan shows a live countdown, so you always know what happens next.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sldNum" idx="8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C8495A-AE00-4E3D-939A-014F9EC53B3D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Built to keep both sides safe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card"/>
          <p:cNvSpPr/>
          <p:nvPr/>
        </p:nvSpPr>
        <p:spPr>
          <a:xfrm>
            <a:off x="640080" y="1737360"/>
            <a:ext cx="5321520" cy="3428640"/>
          </a:xfrm>
          <a:prstGeom prst="roundRect">
            <a:avLst>
              <a:gd name="adj" fmla="val 3200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0" name="Shape 2"/>
          <p:cNvSpPr/>
          <p:nvPr/>
        </p:nvSpPr>
        <p:spPr>
          <a:xfrm>
            <a:off x="914400" y="1920240"/>
            <a:ext cx="548280" cy="548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11" name="Image 0" descr="icon"/>
          <p:cNvPicPr/>
          <p:nvPr/>
        </p:nvPicPr>
        <p:blipFill>
          <a:blip r:embed="rId1"/>
          <a:stretch/>
        </p:blipFill>
        <p:spPr>
          <a:xfrm>
            <a:off x="1056960" y="2062800"/>
            <a:ext cx="263160" cy="263160"/>
          </a:xfrm>
          <a:prstGeom prst="rect">
            <a:avLst/>
          </a:prstGeom>
          <a:ln w="0">
            <a:noFill/>
          </a:ln>
        </p:spPr>
      </p:pic>
      <p:sp>
        <p:nvSpPr>
          <p:cNvPr id="112" name="Text 3"/>
          <p:cNvSpPr/>
          <p:nvPr/>
        </p:nvSpPr>
        <p:spPr>
          <a:xfrm>
            <a:off x="1645920" y="1920240"/>
            <a:ext cx="4023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If you borrow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4"/>
          <p:cNvSpPr/>
          <p:nvPr/>
        </p:nvSpPr>
        <p:spPr>
          <a:xfrm>
            <a:off x="960120" y="2724840"/>
            <a:ext cx="182520" cy="182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4" name="Text 5"/>
          <p:cNvSpPr/>
          <p:nvPr/>
        </p:nvSpPr>
        <p:spPr>
          <a:xfrm>
            <a:off x="1325880" y="2651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Collateral stays locked in escrow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6"/>
          <p:cNvSpPr/>
          <p:nvPr/>
        </p:nvSpPr>
        <p:spPr>
          <a:xfrm>
            <a:off x="1325880" y="294444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chemeClr val="dk2"/>
                </a:solidFill>
                <a:latin typeface="Calibri"/>
              </a:rPr>
              <a:t>Held by the program, not a person, and returned when you repay.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7"/>
          <p:cNvSpPr/>
          <p:nvPr/>
        </p:nvSpPr>
        <p:spPr>
          <a:xfrm>
            <a:off x="960120" y="3547800"/>
            <a:ext cx="182520" cy="182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7" name="Text 8"/>
          <p:cNvSpPr/>
          <p:nvPr/>
        </p:nvSpPr>
        <p:spPr>
          <a:xfrm>
            <a:off x="1325880" y="347472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No instant liquidation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9"/>
          <p:cNvSpPr/>
          <p:nvPr/>
        </p:nvSpPr>
        <p:spPr>
          <a:xfrm>
            <a:off x="1325880" y="376740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chemeClr val="dk2"/>
                </a:solidFill>
                <a:latin typeface="Calibri"/>
              </a:rPr>
              <a:t>A 24-hour grace window opens first, so one late payment isn’t the end.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10"/>
          <p:cNvSpPr/>
          <p:nvPr/>
        </p:nvSpPr>
        <p:spPr>
          <a:xfrm>
            <a:off x="960120" y="4370760"/>
            <a:ext cx="182520" cy="182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0" name="Text 11"/>
          <p:cNvSpPr/>
          <p:nvPr/>
        </p:nvSpPr>
        <p:spPr>
          <a:xfrm>
            <a:off x="1325880" y="429768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You always know where you stand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12"/>
          <p:cNvSpPr/>
          <p:nvPr/>
        </p:nvSpPr>
        <p:spPr>
          <a:xfrm>
            <a:off x="1325880" y="459036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chemeClr val="dk2"/>
                </a:solidFill>
                <a:latin typeface="Calibri"/>
              </a:rPr>
              <a:t>Alerts start at −10% and escalate as your collateral nears what you owe.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card"/>
          <p:cNvSpPr/>
          <p:nvPr/>
        </p:nvSpPr>
        <p:spPr>
          <a:xfrm>
            <a:off x="6199560" y="1737360"/>
            <a:ext cx="5321520" cy="3428640"/>
          </a:xfrm>
          <a:prstGeom prst="roundRect">
            <a:avLst>
              <a:gd name="adj" fmla="val 3200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3" name="Shape 14"/>
          <p:cNvSpPr/>
          <p:nvPr/>
        </p:nvSpPr>
        <p:spPr>
          <a:xfrm>
            <a:off x="6473880" y="1920240"/>
            <a:ext cx="548280" cy="548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24" name="Image 1" descr="icon"/>
          <p:cNvPicPr/>
          <p:nvPr/>
        </p:nvPicPr>
        <p:blipFill>
          <a:blip r:embed="rId2"/>
          <a:stretch/>
        </p:blipFill>
        <p:spPr>
          <a:xfrm>
            <a:off x="6616440" y="2062800"/>
            <a:ext cx="263160" cy="263160"/>
          </a:xfrm>
          <a:prstGeom prst="rect">
            <a:avLst/>
          </a:prstGeom>
          <a:ln w="0">
            <a:noFill/>
          </a:ln>
        </p:spPr>
      </p:pic>
      <p:sp>
        <p:nvSpPr>
          <p:cNvPr id="125" name="Text 15"/>
          <p:cNvSpPr/>
          <p:nvPr/>
        </p:nvSpPr>
        <p:spPr>
          <a:xfrm>
            <a:off x="7205400" y="1920240"/>
            <a:ext cx="4023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If you lend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16"/>
          <p:cNvSpPr/>
          <p:nvPr/>
        </p:nvSpPr>
        <p:spPr>
          <a:xfrm>
            <a:off x="6519600" y="2724840"/>
            <a:ext cx="182520" cy="1825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7" name="Text 17"/>
          <p:cNvSpPr/>
          <p:nvPr/>
        </p:nvSpPr>
        <p:spPr>
          <a:xfrm>
            <a:off x="6885360" y="2651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Every loan is backed by collateral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 18"/>
          <p:cNvSpPr/>
          <p:nvPr/>
        </p:nvSpPr>
        <p:spPr>
          <a:xfrm>
            <a:off x="6885360" y="294444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chemeClr val="dk2"/>
                </a:solidFill>
                <a:latin typeface="Calibri"/>
              </a:rPr>
              <a:t>A desk lends at most 65–70% of the collateral’s value.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19"/>
          <p:cNvSpPr/>
          <p:nvPr/>
        </p:nvSpPr>
        <p:spPr>
          <a:xfrm>
            <a:off x="6519600" y="3547800"/>
            <a:ext cx="182520" cy="1825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0" name="Text 20"/>
          <p:cNvSpPr/>
          <p:nvPr/>
        </p:nvSpPr>
        <p:spPr>
          <a:xfrm>
            <a:off x="6885360" y="347472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You set the rules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21"/>
          <p:cNvSpPr/>
          <p:nvPr/>
        </p:nvSpPr>
        <p:spPr>
          <a:xfrm>
            <a:off x="6885360" y="376740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chemeClr val="dk2"/>
                </a:solidFill>
                <a:latin typeface="Calibri"/>
              </a:rPr>
              <a:t>Open your own desk: you pick the rate, the term and the limits.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22"/>
          <p:cNvSpPr/>
          <p:nvPr/>
        </p:nvSpPr>
        <p:spPr>
          <a:xfrm>
            <a:off x="6519600" y="4370760"/>
            <a:ext cx="182520" cy="1825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3" name="Text 23"/>
          <p:cNvSpPr/>
          <p:nvPr/>
        </p:nvSpPr>
        <p:spPr>
          <a:xfrm>
            <a:off x="6885360" y="429768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A clear plan if a loan goes unpaid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24"/>
          <p:cNvSpPr/>
          <p:nvPr/>
        </p:nvSpPr>
        <p:spPr>
          <a:xfrm>
            <a:off x="6885360" y="459036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chemeClr val="dk2"/>
                </a:solidFill>
                <a:latin typeface="Calibri"/>
              </a:rPr>
              <a:t>After the grace window, the collateral is there to cover your funds.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25"/>
          <p:cNvSpPr/>
          <p:nvPr/>
        </p:nvSpPr>
        <p:spPr>
          <a:xfrm>
            <a:off x="640080" y="5394960"/>
            <a:ext cx="10881000" cy="776880"/>
          </a:xfrm>
          <a:prstGeom prst="roundRect">
            <a:avLst>
              <a:gd name="adj" fmla="val 14118"/>
            </a:avLst>
          </a:prstGeom>
          <a:solidFill>
            <a:schemeClr val="tx1"/>
          </a:solidFill>
          <a:ln w="12700">
            <a:solidFill>
              <a:srgbClr val="0b10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6" name="Text 26"/>
          <p:cNvSpPr/>
          <p:nvPr/>
        </p:nvSpPr>
        <p:spPr>
          <a:xfrm>
            <a:off x="914400" y="5394960"/>
            <a:ext cx="10332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f5f8ff"/>
                </a:solidFill>
                <a:latin typeface="Calibri"/>
              </a:rPr>
              <a:t>Both sides: keys stay in your phone’s secure Seed Vault, and code enforces the rules.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f5f8ff"/>
                </a:solidFill>
                <a:latin typeface="Calibri"/>
              </a:rPr>
              <a:t>Alerts begin at −10%, repeat with further drops, and escalate when collateral nears debt + interest. Thresholds depend on oracle pricing.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1"/>
          <p:cNvSpPr>
            <a:spLocks noGrp="1"/>
          </p:cNvSpPr>
          <p:nvPr>
            <p:ph type="sldNum" idx="9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AE82F26-0D5D-42CC-9328-EA291CF941F0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Why we win: built for borrowers, not just liquidity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1"/>
          <p:cNvSpPr>
            <a:spLocks noGrp="1"/>
          </p:cNvSpPr>
          <p:nvPr>
            <p:ph type="sldNum" idx="10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D0A8112-F12F-45CE-84C1-66B7940424CF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140" name="Table 25"/>
          <p:cNvGraphicFramePr/>
          <p:nvPr/>
        </p:nvGraphicFramePr>
        <p:xfrm>
          <a:off x="640080" y="1737360"/>
          <a:ext cx="10881000" cy="4370400"/>
        </p:xfrm>
        <a:graphic>
          <a:graphicData uri="http://schemas.openxmlformats.org/drawingml/2006/table">
            <a:tbl>
              <a:tblPr/>
              <a:tblGrid>
                <a:gridCol w="1417320"/>
                <a:gridCol w="2788920"/>
                <a:gridCol w="2788920"/>
                <a:gridCol w="3886200"/>
              </a:tblGrid>
              <a:tr h="475200"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f5b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Kamino Lend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f5b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Marginfi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f5b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ClockLend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f5bff"/>
                    </a:solidFill>
                  </a:tcPr>
                </a:tc>
              </a:tr>
              <a:tr h="649080"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Risk / liquidation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Collateral-health and market-risk thresholds; eligible positions may be liquidated.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Account health below maintenance threshold can trigger partial liquidation.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Fixed-term loan with a 24-hour rescue window after due time (design claim).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</a:tr>
              <a:tr h="649080"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Repayment model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Generally health-based borrowing; no universal fixed-term deadline.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Generally health-based borrowing; no universal fixed-term deadline.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Clear due time and live countdown.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</a:tr>
              <a:tr h="649080"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Lending model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Shared liquidity markets.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Lending pools and collateralized borrowing.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Lender-created desks plus peer / Circle lending.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</a:tr>
              <a:tr h="649080"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Social recovery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Not a core protocol feature.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Not a core protocol feature.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Circles and friend-to-friend fundraising concept.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</a:tr>
              <a:tr h="649080"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Seeker-first UX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General Solana DeFi UX.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General Solana DeFi UX.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Designed for Seeker / mobile use.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</a:tr>
              <a:tr h="649080"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SKR integration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No native ClockLend-style SKR staking benefit.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No native ClockLend-style SKR staking benefit.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SKR staking benefits proposed by ClockLend.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Why now: phones, Solana and community are converging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card"/>
          <p:cNvSpPr/>
          <p:nvPr/>
        </p:nvSpPr>
        <p:spPr>
          <a:xfrm>
            <a:off x="640080" y="1737360"/>
            <a:ext cx="2578320" cy="347436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3" name="Shape 2"/>
          <p:cNvSpPr/>
          <p:nvPr/>
        </p:nvSpPr>
        <p:spPr>
          <a:xfrm>
            <a:off x="868680" y="2011680"/>
            <a:ext cx="685440" cy="6854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44" name="Image 0" descr="icon"/>
          <p:cNvPicPr/>
          <p:nvPr/>
        </p:nvPicPr>
        <p:blipFill>
          <a:blip r:embed="rId1"/>
          <a:stretch/>
        </p:blipFill>
        <p:spPr>
          <a:xfrm>
            <a:off x="1046880" y="218988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145" name="Text 3"/>
          <p:cNvSpPr/>
          <p:nvPr/>
        </p:nvSpPr>
        <p:spPr>
          <a:xfrm>
            <a:off x="868680" y="2926080"/>
            <a:ext cx="2148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Phones are wallets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4"/>
          <p:cNvSpPr/>
          <p:nvPr/>
        </p:nvSpPr>
        <p:spPr>
          <a:xfrm>
            <a:off x="868680" y="3611880"/>
            <a:ext cx="21484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chemeClr val="dk2"/>
                </a:solidFill>
                <a:latin typeface="Calibri"/>
              </a:rPr>
              <a:t>Solana Mobile phones make secure wallets standard, with a built-in Seed Vault.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card"/>
          <p:cNvSpPr/>
          <p:nvPr/>
        </p:nvSpPr>
        <p:spPr>
          <a:xfrm>
            <a:off x="3420000" y="1737360"/>
            <a:ext cx="2578320" cy="347436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8" name="Shape 6"/>
          <p:cNvSpPr/>
          <p:nvPr/>
        </p:nvSpPr>
        <p:spPr>
          <a:xfrm>
            <a:off x="3648600" y="2011680"/>
            <a:ext cx="685440" cy="6854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49" name="Image 1" descr="icon"/>
          <p:cNvPicPr/>
          <p:nvPr/>
        </p:nvPicPr>
        <p:blipFill>
          <a:blip r:embed="rId2"/>
          <a:stretch/>
        </p:blipFill>
        <p:spPr>
          <a:xfrm>
            <a:off x="3826800" y="218988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150" name="Text 7"/>
          <p:cNvSpPr/>
          <p:nvPr/>
        </p:nvSpPr>
        <p:spPr>
          <a:xfrm>
            <a:off x="3648600" y="2926080"/>
            <a:ext cx="2148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Solana is fast and cheap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8"/>
          <p:cNvSpPr/>
          <p:nvPr/>
        </p:nvSpPr>
        <p:spPr>
          <a:xfrm>
            <a:off x="3648600" y="3611880"/>
            <a:ext cx="21484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chemeClr val="dk2"/>
                </a:solidFill>
                <a:latin typeface="Calibri"/>
              </a:rPr>
              <a:t>Low fees make small loans worth making.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card"/>
          <p:cNvSpPr/>
          <p:nvPr/>
        </p:nvSpPr>
        <p:spPr>
          <a:xfrm>
            <a:off x="6199560" y="1737360"/>
            <a:ext cx="2578320" cy="347436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3" name="Shape 10"/>
          <p:cNvSpPr/>
          <p:nvPr/>
        </p:nvSpPr>
        <p:spPr>
          <a:xfrm>
            <a:off x="6428160" y="2011680"/>
            <a:ext cx="685440" cy="68544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18c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54" name="Image 2" descr="icon"/>
          <p:cNvPicPr/>
          <p:nvPr/>
        </p:nvPicPr>
        <p:blipFill>
          <a:blip r:embed="rId3"/>
          <a:stretch/>
        </p:blipFill>
        <p:spPr>
          <a:xfrm>
            <a:off x="6606720" y="218988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155" name="Text 11"/>
          <p:cNvSpPr/>
          <p:nvPr/>
        </p:nvSpPr>
        <p:spPr>
          <a:xfrm>
            <a:off x="6428160" y="2926080"/>
            <a:ext cx="2148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SKR gives a reason to stay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12"/>
          <p:cNvSpPr/>
          <p:nvPr/>
        </p:nvSpPr>
        <p:spPr>
          <a:xfrm>
            <a:off x="6428160" y="3611880"/>
            <a:ext cx="21484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chemeClr val="dk2"/>
                </a:solidFill>
                <a:latin typeface="Calibri"/>
              </a:rPr>
              <a:t>The Seeker token powers rate discounts and builds a loan history.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card"/>
          <p:cNvSpPr/>
          <p:nvPr/>
        </p:nvSpPr>
        <p:spPr>
          <a:xfrm>
            <a:off x="8979480" y="1737360"/>
            <a:ext cx="2578320" cy="347436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8" name="Shape 14"/>
          <p:cNvSpPr/>
          <p:nvPr/>
        </p:nvSpPr>
        <p:spPr>
          <a:xfrm>
            <a:off x="9208080" y="2011680"/>
            <a:ext cx="685440" cy="6854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59" name="Image 3" descr="icon"/>
          <p:cNvPicPr/>
          <p:nvPr/>
        </p:nvPicPr>
        <p:blipFill>
          <a:blip r:embed="rId4"/>
          <a:stretch/>
        </p:blipFill>
        <p:spPr>
          <a:xfrm>
            <a:off x="9386280" y="218988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160" name="Text 15"/>
          <p:cNvSpPr/>
          <p:nvPr/>
        </p:nvSpPr>
        <p:spPr>
          <a:xfrm>
            <a:off x="9208080" y="2926080"/>
            <a:ext cx="2148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Communities hold capital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 16"/>
          <p:cNvSpPr/>
          <p:nvPr/>
        </p:nvSpPr>
        <p:spPr>
          <a:xfrm>
            <a:off x="9208080" y="3611880"/>
            <a:ext cx="21484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chemeClr val="dk2"/>
                </a:solidFill>
                <a:latin typeface="Calibri"/>
              </a:rPr>
              <a:t>Groups already pool trust and money online, but lending apps ignore it.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17"/>
          <p:cNvSpPr/>
          <p:nvPr/>
        </p:nvSpPr>
        <p:spPr>
          <a:xfrm>
            <a:off x="640080" y="5440680"/>
            <a:ext cx="10881000" cy="6397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3" name="Text 18"/>
          <p:cNvSpPr/>
          <p:nvPr/>
        </p:nvSpPr>
        <p:spPr>
          <a:xfrm>
            <a:off x="640080" y="5440680"/>
            <a:ext cx="108810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</a:rPr>
              <a:t>ClockLend sits where all four meet.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sldNum" idx="11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A6AA4CA-384E-4DB8-86EC-ABE0006F70EB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Our first users: Seeker owners, communities and lenders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card"/>
          <p:cNvSpPr/>
          <p:nvPr/>
        </p:nvSpPr>
        <p:spPr>
          <a:xfrm>
            <a:off x="640080" y="1737360"/>
            <a:ext cx="3474360" cy="329148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7" name="Shape 2"/>
          <p:cNvSpPr/>
          <p:nvPr/>
        </p:nvSpPr>
        <p:spPr>
          <a:xfrm>
            <a:off x="914400" y="2011680"/>
            <a:ext cx="731160" cy="7311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68" name="Image 0" descr="icon"/>
          <p:cNvPicPr/>
          <p:nvPr/>
        </p:nvPicPr>
        <p:blipFill>
          <a:blip r:embed="rId1"/>
          <a:stretch/>
        </p:blipFill>
        <p:spPr>
          <a:xfrm>
            <a:off x="1104480" y="2201760"/>
            <a:ext cx="350640" cy="350640"/>
          </a:xfrm>
          <a:prstGeom prst="rect">
            <a:avLst/>
          </a:prstGeom>
          <a:ln w="0">
            <a:noFill/>
          </a:ln>
        </p:spPr>
      </p:pic>
      <p:sp>
        <p:nvSpPr>
          <p:cNvPr id="169" name="Text 3"/>
          <p:cNvSpPr/>
          <p:nvPr/>
        </p:nvSpPr>
        <p:spPr>
          <a:xfrm>
            <a:off x="914400" y="2926080"/>
            <a:ext cx="301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chemeClr val="dk1"/>
                </a:solidFill>
                <a:latin typeface="Calibri"/>
              </a:rPr>
              <a:t>Seeker owners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4"/>
          <p:cNvSpPr/>
          <p:nvPr/>
        </p:nvSpPr>
        <p:spPr>
          <a:xfrm>
            <a:off x="914400" y="3657600"/>
            <a:ext cx="29257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People who hold SOL or SKR and need a small, quick loan without selling their coins.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card"/>
          <p:cNvSpPr/>
          <p:nvPr/>
        </p:nvSpPr>
        <p:spPr>
          <a:xfrm>
            <a:off x="4343400" y="1737360"/>
            <a:ext cx="3474360" cy="329148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2" name="Shape 6"/>
          <p:cNvSpPr/>
          <p:nvPr/>
        </p:nvSpPr>
        <p:spPr>
          <a:xfrm>
            <a:off x="4617720" y="2011680"/>
            <a:ext cx="731160" cy="7311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73" name="Image 1" descr="icon"/>
          <p:cNvPicPr/>
          <p:nvPr/>
        </p:nvPicPr>
        <p:blipFill>
          <a:blip r:embed="rId2"/>
          <a:stretch/>
        </p:blipFill>
        <p:spPr>
          <a:xfrm>
            <a:off x="4807800" y="2201760"/>
            <a:ext cx="350640" cy="350640"/>
          </a:xfrm>
          <a:prstGeom prst="rect">
            <a:avLst/>
          </a:prstGeom>
          <a:ln w="0">
            <a:noFill/>
          </a:ln>
        </p:spPr>
      </p:pic>
      <p:sp>
        <p:nvSpPr>
          <p:cNvPr id="174" name="Text 7"/>
          <p:cNvSpPr/>
          <p:nvPr/>
        </p:nvSpPr>
        <p:spPr>
          <a:xfrm>
            <a:off x="4617720" y="2926080"/>
            <a:ext cx="301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chemeClr val="dk1"/>
                </a:solidFill>
                <a:latin typeface="Calibri"/>
              </a:rPr>
              <a:t>Communities and friend groups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8"/>
          <p:cNvSpPr/>
          <p:nvPr/>
        </p:nvSpPr>
        <p:spPr>
          <a:xfrm>
            <a:off x="4617720" y="3657600"/>
            <a:ext cx="29257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Groups that already trust each other and can back a member through a Circle.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card"/>
          <p:cNvSpPr/>
          <p:nvPr/>
        </p:nvSpPr>
        <p:spPr>
          <a:xfrm>
            <a:off x="8046720" y="1737360"/>
            <a:ext cx="3474360" cy="329148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7" name="Shape 10"/>
          <p:cNvSpPr/>
          <p:nvPr/>
        </p:nvSpPr>
        <p:spPr>
          <a:xfrm>
            <a:off x="8321040" y="2011680"/>
            <a:ext cx="731160" cy="7311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18c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78" name="Image 2" descr="icon"/>
          <p:cNvPicPr/>
          <p:nvPr/>
        </p:nvPicPr>
        <p:blipFill>
          <a:blip r:embed="rId3"/>
          <a:stretch/>
        </p:blipFill>
        <p:spPr>
          <a:xfrm>
            <a:off x="8511120" y="2201760"/>
            <a:ext cx="350640" cy="350640"/>
          </a:xfrm>
          <a:prstGeom prst="rect">
            <a:avLst/>
          </a:prstGeom>
          <a:ln w="0">
            <a:noFill/>
          </a:ln>
        </p:spPr>
      </p:pic>
      <p:sp>
        <p:nvSpPr>
          <p:cNvPr id="179" name="Text 11"/>
          <p:cNvSpPr/>
          <p:nvPr/>
        </p:nvSpPr>
        <p:spPr>
          <a:xfrm>
            <a:off x="8321040" y="2926080"/>
            <a:ext cx="301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chemeClr val="dk1"/>
                </a:solidFill>
                <a:latin typeface="Calibri"/>
              </a:rPr>
              <a:t>Lenders who open desks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12"/>
          <p:cNvSpPr/>
          <p:nvPr/>
        </p:nvSpPr>
        <p:spPr>
          <a:xfrm>
            <a:off x="8321040" y="3657600"/>
            <a:ext cx="29257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defRPr sz="1400">
                <a:latin typeface="Calibri"/>
              </a:defRPr>
            </a:pPr>
            <a:r>
              <a:t>Holders who want to earn interest by lending USDC to borrowers. Genesis Desk #2 active with $50.02 USDC earning 85% yield.</a:t>
            </a:r>
          </a:p>
        </p:txBody>
      </p:sp>
      <p:sp>
        <p:nvSpPr>
          <p:cNvPr id="181" name="Shape 13"/>
          <p:cNvSpPr/>
          <p:nvPr/>
        </p:nvSpPr>
        <p:spPr>
          <a:xfrm>
            <a:off x="640080" y="5349240"/>
            <a:ext cx="10881000" cy="685440"/>
          </a:xfrm>
          <a:prstGeom prst="roundRect">
            <a:avLst>
              <a:gd name="adj" fmla="val 49333"/>
            </a:avLst>
          </a:prstGeom>
          <a:solidFill>
            <a:schemeClr val="tx1"/>
          </a:solidFill>
          <a:ln w="12700">
            <a:solidFill>
              <a:srgbClr val="0b10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2" name="Text 14"/>
          <p:cNvSpPr/>
          <p:nvPr/>
        </p:nvSpPr>
        <p:spPr>
          <a:xfrm>
            <a:off x="640080" y="5349240"/>
            <a:ext cx="10881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Starting point: the Solana Mobile community, where ClockLend is built to run.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1"/>
          <p:cNvSpPr>
            <a:spLocks noGrp="1"/>
          </p:cNvSpPr>
          <p:nvPr>
            <p:ph type="sldNum" idx="12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8E7E00-D4C8-43A7-B528-47FD1309C6B8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How ClockLend makes money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card"/>
          <p:cNvSpPr/>
          <p:nvPr/>
        </p:nvSpPr>
        <p:spPr>
          <a:xfrm>
            <a:off x="640080" y="1737360"/>
            <a:ext cx="6766200" cy="4297320"/>
          </a:xfrm>
          <a:prstGeom prst="roundRect">
            <a:avLst>
              <a:gd name="adj" fmla="val 2553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6" name="Text 2"/>
          <p:cNvSpPr/>
          <p:nvPr/>
        </p:nvSpPr>
        <p:spPr>
          <a:xfrm>
            <a:off x="914400" y="1965960"/>
            <a:ext cx="6217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1"/>
                </a:solidFill>
                <a:latin typeface="Calibri"/>
              </a:rPr>
              <a:t>EXAMPLE: A $100 LOAN AT 8% INTEREST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914400" y="2377440"/>
            <a:ext cx="2102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chemeClr val="dk1"/>
                </a:solidFill>
                <a:latin typeface="Calibri"/>
              </a:rPr>
              <a:t>$100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4"/>
          <p:cNvSpPr/>
          <p:nvPr/>
        </p:nvSpPr>
        <p:spPr>
          <a:xfrm>
            <a:off x="914400" y="310896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You borrow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3063240" y="2377440"/>
            <a:ext cx="2102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chemeClr val="accent1"/>
                </a:solidFill>
                <a:latin typeface="Calibri"/>
              </a:rPr>
              <a:t>+ $8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3063240" y="310896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Interest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5212080" y="2377440"/>
            <a:ext cx="2102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chemeClr val="dk1"/>
                </a:solidFill>
                <a:latin typeface="Calibri"/>
              </a:rPr>
              <a:t>= $108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 8"/>
          <p:cNvSpPr/>
          <p:nvPr/>
        </p:nvSpPr>
        <p:spPr>
          <a:xfrm>
            <a:off x="5212080" y="310896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You repay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9"/>
          <p:cNvSpPr/>
          <p:nvPr/>
        </p:nvSpPr>
        <p:spPr>
          <a:xfrm>
            <a:off x="914400" y="3703320"/>
            <a:ext cx="6217920" cy="360"/>
          </a:xfrm>
          <a:prstGeom prst="line">
            <a:avLst/>
          </a:prstGeom>
          <a:ln w="12700">
            <a:solidFill>
              <a:srgbClr val="e6e0c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4" name="Text 10"/>
          <p:cNvSpPr/>
          <p:nvPr/>
        </p:nvSpPr>
        <p:spPr>
          <a:xfrm>
            <a:off x="914400" y="3886200"/>
            <a:ext cx="6217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Where the $8 of interest goes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11"/>
          <p:cNvSpPr/>
          <p:nvPr/>
        </p:nvSpPr>
        <p:spPr>
          <a:xfrm>
            <a:off x="914400" y="4343400"/>
            <a:ext cx="5284800" cy="4568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6" name="Shape 12"/>
          <p:cNvSpPr/>
          <p:nvPr/>
        </p:nvSpPr>
        <p:spPr>
          <a:xfrm>
            <a:off x="6199560" y="4343400"/>
            <a:ext cx="932400" cy="45684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7" name="Text 13"/>
          <p:cNvSpPr/>
          <p:nvPr/>
        </p:nvSpPr>
        <p:spPr>
          <a:xfrm>
            <a:off x="914400" y="4892040"/>
            <a:ext cx="3291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1"/>
                </a:solidFill>
                <a:latin typeface="Calibri"/>
              </a:rPr>
              <a:t>Lenders keep $6.80 (85%)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 14"/>
          <p:cNvSpPr/>
          <p:nvPr/>
        </p:nvSpPr>
        <p:spPr>
          <a:xfrm>
            <a:off x="4206240" y="489204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ClockLend $1.20 (15%)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15"/>
          <p:cNvSpPr/>
          <p:nvPr/>
        </p:nvSpPr>
        <p:spPr>
          <a:xfrm>
            <a:off x="914400" y="5486400"/>
            <a:ext cx="6217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defRPr sz="1100" i="1">
                <a:solidFill>
                  <a:srgbClr val="64748B"/>
                </a:solidFill>
                <a:latin typeface="Calibri"/>
              </a:defRPr>
            </a:pPr>
            <a:r>
              <a:t>Verified on Mainnet: Protocol revenue model is active. Genesis Desk #2 live with $50.02 USDC liquidity. Verified repayment distributed 85% yield to lender ($0.0159 USDC), 15% to protocol treasury ($0.0040 USDC), and 50% origination fee to SKR Yield Vault ($0.0013 USDC).</a:t>
            </a:r>
          </a:p>
        </p:txBody>
      </p:sp>
      <p:sp>
        <p:nvSpPr>
          <p:cNvPr id="200" name="card"/>
          <p:cNvSpPr/>
          <p:nvPr/>
        </p:nvSpPr>
        <p:spPr>
          <a:xfrm>
            <a:off x="7680960" y="1737360"/>
            <a:ext cx="3840120" cy="13712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1" name="Shape 17"/>
          <p:cNvSpPr/>
          <p:nvPr/>
        </p:nvSpPr>
        <p:spPr>
          <a:xfrm>
            <a:off x="7909560" y="2103120"/>
            <a:ext cx="639720" cy="639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02" name="Image 0" descr="icon"/>
          <p:cNvPicPr/>
          <p:nvPr/>
        </p:nvPicPr>
        <p:blipFill>
          <a:blip r:embed="rId1"/>
          <a:stretch/>
        </p:blipFill>
        <p:spPr>
          <a:xfrm>
            <a:off x="8075880" y="226944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203" name="Text 18"/>
          <p:cNvSpPr/>
          <p:nvPr/>
        </p:nvSpPr>
        <p:spPr>
          <a:xfrm>
            <a:off x="8732520" y="1920240"/>
            <a:ext cx="2697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A small start fee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19"/>
          <p:cNvSpPr/>
          <p:nvPr/>
        </p:nvSpPr>
        <p:spPr>
          <a:xfrm>
            <a:off x="8732520" y="2286000"/>
            <a:ext cx="26971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defRPr sz="1250">
                <a:latin typeface="Calibri"/>
              </a:defRPr>
            </a:pPr>
            <a:r>
              <a:t>0.25–0.50%, withheld at payout. 50% routes directly to the SKR Yield Vault to reward long-term stakers ($0.0013 USDC distributed to date).</a:t>
            </a:r>
          </a:p>
        </p:txBody>
      </p:sp>
      <p:sp>
        <p:nvSpPr>
          <p:cNvPr id="205" name="card"/>
          <p:cNvSpPr/>
          <p:nvPr/>
        </p:nvSpPr>
        <p:spPr>
          <a:xfrm>
            <a:off x="7680960" y="3200400"/>
            <a:ext cx="3840120" cy="13712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6" name="Shape 21"/>
          <p:cNvSpPr/>
          <p:nvPr/>
        </p:nvSpPr>
        <p:spPr>
          <a:xfrm>
            <a:off x="7909560" y="3566160"/>
            <a:ext cx="639720" cy="6397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07" name="Image 1" descr="icon"/>
          <p:cNvPicPr/>
          <p:nvPr/>
        </p:nvPicPr>
        <p:blipFill>
          <a:blip r:embed="rId2"/>
          <a:stretch/>
        </p:blipFill>
        <p:spPr>
          <a:xfrm>
            <a:off x="8075880" y="373248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208" name="Text 22"/>
          <p:cNvSpPr/>
          <p:nvPr/>
        </p:nvSpPr>
        <p:spPr>
          <a:xfrm>
            <a:off x="8732520" y="3383280"/>
            <a:ext cx="2697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15% of the interest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 23"/>
          <p:cNvSpPr/>
          <p:nvPr/>
        </p:nvSpPr>
        <p:spPr>
          <a:xfrm>
            <a:off x="8732520" y="3749040"/>
            <a:ext cx="26971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defRPr sz="1250">
                <a:latin typeface="Calibri"/>
              </a:defRPr>
            </a:pPr>
            <a:r>
              <a:t>Taken from interest, so we earn when lenders earn. (Live Mainnet treasury: $0.0040 USDC earned from initial loan volume).</a:t>
            </a:r>
          </a:p>
        </p:txBody>
      </p:sp>
      <p:sp>
        <p:nvSpPr>
          <p:cNvPr id="210" name="card"/>
          <p:cNvSpPr/>
          <p:nvPr/>
        </p:nvSpPr>
        <p:spPr>
          <a:xfrm>
            <a:off x="7680960" y="4663440"/>
            <a:ext cx="3840120" cy="13712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1" name="Shape 25"/>
          <p:cNvSpPr/>
          <p:nvPr/>
        </p:nvSpPr>
        <p:spPr>
          <a:xfrm>
            <a:off x="7909560" y="5029200"/>
            <a:ext cx="639720" cy="6397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18c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12" name="Image 2" descr="icon"/>
          <p:cNvPicPr/>
          <p:nvPr/>
        </p:nvPicPr>
        <p:blipFill>
          <a:blip r:embed="rId3"/>
          <a:stretch/>
        </p:blipFill>
        <p:spPr>
          <a:xfrm>
            <a:off x="8075880" y="519552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213" name="Text 26"/>
          <p:cNvSpPr/>
          <p:nvPr/>
        </p:nvSpPr>
        <p:spPr>
          <a:xfrm>
            <a:off x="8732520" y="4846320"/>
            <a:ext cx="2697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50% of the surplus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27"/>
          <p:cNvSpPr/>
          <p:nvPr/>
        </p:nvSpPr>
        <p:spPr>
          <a:xfrm>
            <a:off x="8732520" y="5212080"/>
            <a:ext cx="26971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chemeClr val="dk2"/>
                </a:solidFill>
                <a:latin typeface="Calibri"/>
              </a:rPr>
              <a:t>On a default after grace, half of any collateral value above the debt goes to the protocol. The rest returns to the borrower.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1"/>
          <p:cNvSpPr>
            <a:spLocks noGrp="1"/>
          </p:cNvSpPr>
          <p:nvPr>
            <p:ph type="sldNum" idx="13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DF3BBFF-796F-4475-93C3-8919778D9483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SKR: stake it, borrow cheaper, keep earning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card"/>
          <p:cNvSpPr/>
          <p:nvPr/>
        </p:nvSpPr>
        <p:spPr>
          <a:xfrm>
            <a:off x="640080" y="1737360"/>
            <a:ext cx="2578320" cy="347436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8" name="Shape 2"/>
          <p:cNvSpPr/>
          <p:nvPr/>
        </p:nvSpPr>
        <p:spPr>
          <a:xfrm>
            <a:off x="868680" y="2011680"/>
            <a:ext cx="685440" cy="6854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19" name="Image 0" descr="icon"/>
          <p:cNvPicPr/>
          <p:nvPr/>
        </p:nvPicPr>
        <p:blipFill>
          <a:blip r:embed="rId1"/>
          <a:stretch/>
        </p:blipFill>
        <p:spPr>
          <a:xfrm>
            <a:off x="1046880" y="218988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220" name="Text 3"/>
          <p:cNvSpPr/>
          <p:nvPr/>
        </p:nvSpPr>
        <p:spPr>
          <a:xfrm>
            <a:off x="868680" y="2926080"/>
            <a:ext cx="2148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Stake to borrow cheaper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4"/>
          <p:cNvSpPr/>
          <p:nvPr/>
        </p:nvSpPr>
        <p:spPr>
          <a:xfrm>
            <a:off x="868680" y="3611880"/>
            <a:ext cx="21484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chemeClr val="dk2"/>
                </a:solidFill>
                <a:latin typeface="Calibri"/>
              </a:rPr>
              <a:t>Your rate slides from 1% at 100 SKR staked to 25% at 10,000.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card"/>
          <p:cNvSpPr/>
          <p:nvPr/>
        </p:nvSpPr>
        <p:spPr>
          <a:xfrm>
            <a:off x="3420000" y="1737360"/>
            <a:ext cx="2578320" cy="347436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3" name="Shape 6"/>
          <p:cNvSpPr/>
          <p:nvPr/>
        </p:nvSpPr>
        <p:spPr>
          <a:xfrm>
            <a:off x="3648600" y="2011680"/>
            <a:ext cx="685440" cy="6854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24" name="Image 1" descr="icon"/>
          <p:cNvPicPr/>
          <p:nvPr/>
        </p:nvPicPr>
        <p:blipFill>
          <a:blip r:embed="rId2"/>
          <a:stretch/>
        </p:blipFill>
        <p:spPr>
          <a:xfrm>
            <a:off x="3826800" y="218988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225" name="Text 7"/>
          <p:cNvSpPr/>
          <p:nvPr/>
        </p:nvSpPr>
        <p:spPr>
          <a:xfrm>
            <a:off x="3648600" y="2926080"/>
            <a:ext cx="2148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Earn dividends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8"/>
          <p:cNvSpPr/>
          <p:nvPr/>
        </p:nvSpPr>
        <p:spPr>
          <a:xfrm>
            <a:off x="3648600" y="3611880"/>
            <a:ext cx="21484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defRPr sz="1300">
                <a:latin typeface="Calibri"/>
              </a:defRPr>
            </a:pPr>
            <a:r>
              <a:t>50% of every origination fee funds a USDC dividend pool that SKR stakers claim against. (Live Mainnet vault funded &amp; active).</a:t>
            </a:r>
          </a:p>
        </p:txBody>
      </p:sp>
      <p:sp>
        <p:nvSpPr>
          <p:cNvPr id="227" name="card"/>
          <p:cNvSpPr/>
          <p:nvPr/>
        </p:nvSpPr>
        <p:spPr>
          <a:xfrm>
            <a:off x="6199560" y="1737360"/>
            <a:ext cx="2578320" cy="347436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8" name="Shape 10"/>
          <p:cNvSpPr/>
          <p:nvPr/>
        </p:nvSpPr>
        <p:spPr>
          <a:xfrm>
            <a:off x="6428160" y="2011680"/>
            <a:ext cx="685440" cy="68544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18c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29" name="Image 2" descr="icon"/>
          <p:cNvPicPr/>
          <p:nvPr/>
        </p:nvPicPr>
        <p:blipFill>
          <a:blip r:embed="rId3"/>
          <a:stretch/>
        </p:blipFill>
        <p:spPr>
          <a:xfrm>
            <a:off x="6606720" y="218988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230" name="Text 11"/>
          <p:cNvSpPr/>
          <p:nvPr/>
        </p:nvSpPr>
        <p:spPr>
          <a:xfrm>
            <a:off x="6428160" y="2926080"/>
            <a:ext cx="2148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Locked, never slashed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12"/>
          <p:cNvSpPr/>
          <p:nvPr/>
        </p:nvSpPr>
        <p:spPr>
          <a:xfrm>
            <a:off x="6428160" y="3611880"/>
            <a:ext cx="21484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chemeClr val="dk2"/>
                </a:solidFill>
                <a:latin typeface="Calibri"/>
              </a:rPr>
              <a:t>Your bond is locked while a loan is live and released after — and keeps earning throughout.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card"/>
          <p:cNvSpPr/>
          <p:nvPr/>
        </p:nvSpPr>
        <p:spPr>
          <a:xfrm>
            <a:off x="8979480" y="1737360"/>
            <a:ext cx="2578320" cy="347436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3" name="Shape 14"/>
          <p:cNvSpPr/>
          <p:nvPr/>
        </p:nvSpPr>
        <p:spPr>
          <a:xfrm>
            <a:off x="9208080" y="2011680"/>
            <a:ext cx="685440" cy="6854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34" name="Image 3" descr="icon"/>
          <p:cNvPicPr/>
          <p:nvPr/>
        </p:nvPicPr>
        <p:blipFill>
          <a:blip r:embed="rId4"/>
          <a:stretch/>
        </p:blipFill>
        <p:spPr>
          <a:xfrm>
            <a:off x="9386280" y="218988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235" name="Text 15"/>
          <p:cNvSpPr/>
          <p:nvPr/>
        </p:nvSpPr>
        <p:spPr>
          <a:xfrm>
            <a:off x="9208080" y="2926080"/>
            <a:ext cx="2148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Protocol utility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16"/>
          <p:cNvSpPr/>
          <p:nvPr/>
        </p:nvSpPr>
        <p:spPr>
          <a:xfrm>
            <a:off x="9208080" y="3611880"/>
            <a:ext cx="21484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chemeClr val="dk2"/>
                </a:solidFill>
                <a:latin typeface="Calibri"/>
              </a:rPr>
              <a:t>SKR is designed to support borrower rate benefits and participation in the ClockLend ecosystem. Token economics and any future value-accrual mechanisms should be finalized transparently.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17"/>
          <p:cNvSpPr/>
          <p:nvPr/>
        </p:nvSpPr>
        <p:spPr>
          <a:xfrm>
            <a:off x="640080" y="5440680"/>
            <a:ext cx="10881000" cy="6397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8" name="Text 18"/>
          <p:cNvSpPr/>
          <p:nvPr/>
        </p:nvSpPr>
        <p:spPr>
          <a:xfrm>
            <a:off x="640080" y="5440680"/>
            <a:ext cx="108810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</a:rPr>
              <a:t>Staking never changes LTV — each desk sets its own limit, capped at 70%. Any token incentives remain subject to final design and governance.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1"/>
          <p:cNvSpPr>
            <a:spLocks noGrp="1"/>
          </p:cNvSpPr>
          <p:nvPr>
            <p:ph type="sldNum" idx="14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D0B323-BD1C-492E-832D-09A3370DF95A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Roadmap: from verified program to active lending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card"/>
          <p:cNvSpPr/>
          <p:nvPr/>
        </p:nvSpPr>
        <p:spPr>
          <a:xfrm>
            <a:off x="640080" y="1737360"/>
            <a:ext cx="3474360" cy="141696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2" name="Text 2"/>
          <p:cNvSpPr/>
          <p:nvPr/>
        </p:nvSpPr>
        <p:spPr>
          <a:xfrm>
            <a:off x="914400" y="1828800"/>
            <a:ext cx="29257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chemeClr val="accent1"/>
                </a:solidFill>
                <a:latin typeface="Calibri"/>
              </a:rPr>
              <a:t>Live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 3"/>
          <p:cNvSpPr/>
          <p:nvPr/>
        </p:nvSpPr>
        <p:spPr>
          <a:xfrm>
            <a:off x="914400" y="2560320"/>
            <a:ext cx="3017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defRPr sz="1350">
                <a:latin typeface="Calibri"/>
              </a:defRPr>
            </a:pPr>
            <a:r>
              <a:t>on Solana mainnet, Genesis Desk #2 active</a:t>
            </a:r>
          </a:p>
        </p:txBody>
      </p:sp>
      <p:sp>
        <p:nvSpPr>
          <p:cNvPr id="244" name="card"/>
          <p:cNvSpPr/>
          <p:nvPr/>
        </p:nvSpPr>
        <p:spPr>
          <a:xfrm>
            <a:off x="4343400" y="1737360"/>
            <a:ext cx="3474360" cy="141696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5" name="Text 5"/>
          <p:cNvSpPr/>
          <p:nvPr/>
        </p:nvSpPr>
        <p:spPr>
          <a:xfrm>
            <a:off x="4617720" y="1828800"/>
            <a:ext cx="29257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defRPr sz="3800" b="1">
                <a:solidFill>
                  <a:srgbClr val="2563EB"/>
                </a:solidFill>
                <a:latin typeface="Calibri"/>
              </a:defRPr>
            </a:pPr>
            <a:r>
              <a:t>$50.02</a:t>
            </a:r>
          </a:p>
        </p:txBody>
      </p:sp>
      <p:sp>
        <p:nvSpPr>
          <p:cNvPr id="246" name="Text 6"/>
          <p:cNvSpPr/>
          <p:nvPr/>
        </p:nvSpPr>
        <p:spPr>
          <a:xfrm>
            <a:off x="4617720" y="2560320"/>
            <a:ext cx="3017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defRPr sz="1350">
                <a:latin typeface="Calibri"/>
              </a:defRPr>
            </a:pPr>
            <a:r>
              <a:t>USDC live liquidity · 100% repaid (1/1)</a:t>
            </a:r>
          </a:p>
        </p:txBody>
      </p:sp>
      <p:sp>
        <p:nvSpPr>
          <p:cNvPr id="247" name="card"/>
          <p:cNvSpPr/>
          <p:nvPr/>
        </p:nvSpPr>
        <p:spPr>
          <a:xfrm>
            <a:off x="8046720" y="1737360"/>
            <a:ext cx="3474360" cy="141696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8" name="Text 8"/>
          <p:cNvSpPr/>
          <p:nvPr/>
        </p:nvSpPr>
        <p:spPr>
          <a:xfrm>
            <a:off x="8321040" y="1828800"/>
            <a:ext cx="29257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defRPr sz="3800" b="1">
                <a:solidFill>
                  <a:srgbClr val="2563EB"/>
                </a:solidFill>
                <a:latin typeface="Calibri"/>
              </a:defRPr>
            </a:pPr>
            <a:r>
              <a:t>122+</a:t>
            </a:r>
          </a:p>
        </p:txBody>
      </p:sp>
      <p:sp>
        <p:nvSpPr>
          <p:cNvPr id="249" name="Text 9"/>
          <p:cNvSpPr/>
          <p:nvPr/>
        </p:nvSpPr>
        <p:spPr>
          <a:xfrm>
            <a:off x="8321040" y="2560320"/>
            <a:ext cx="3017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defRPr sz="1350">
                <a:latin typeface="Calibri"/>
              </a:defRPr>
            </a:pPr>
            <a:r>
              <a:t>automated tests · 14 review rounds</a:t>
            </a:r>
          </a:p>
        </p:txBody>
      </p:sp>
      <p:sp>
        <p:nvSpPr>
          <p:cNvPr id="250" name="card"/>
          <p:cNvSpPr/>
          <p:nvPr/>
        </p:nvSpPr>
        <p:spPr>
          <a:xfrm>
            <a:off x="640080" y="3383280"/>
            <a:ext cx="3474360" cy="214848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1" name="Shape 11"/>
          <p:cNvSpPr/>
          <p:nvPr/>
        </p:nvSpPr>
        <p:spPr>
          <a:xfrm>
            <a:off x="914400" y="3611880"/>
            <a:ext cx="868320" cy="3654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2" name="Text 12"/>
          <p:cNvSpPr/>
          <p:nvPr/>
        </p:nvSpPr>
        <p:spPr>
          <a:xfrm>
            <a:off x="914400" y="3611880"/>
            <a:ext cx="868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</a:rPr>
              <a:t>NOW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 13"/>
          <p:cNvSpPr/>
          <p:nvPr/>
        </p:nvSpPr>
        <p:spPr>
          <a:xfrm>
            <a:off x="914400" y="411480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Harden the foundation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 14"/>
          <p:cNvSpPr/>
          <p:nvPr/>
        </p:nvSpPr>
        <p:spPr>
          <a:xfrm>
            <a:off x="914400" y="4572000"/>
            <a:ext cx="30171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4a5275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chemeClr val="dk2"/>
                </a:solidFill>
                <a:latin typeface="Calibri"/>
              </a:rPr>
              <a:t>Live Genesis Desk #2 ($50.02 USDC)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4a5275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chemeClr val="dk2"/>
                </a:solidFill>
                <a:latin typeface="Calibri"/>
              </a:rPr>
              <a:t>Keeper price oracle active (SOL, SKR)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4a5275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chemeClr val="dk2"/>
                </a:solidFill>
                <a:latin typeface="Calibri"/>
              </a:rPr>
              <a:t>100% Seeker loan repayment verified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card"/>
          <p:cNvSpPr/>
          <p:nvPr/>
        </p:nvSpPr>
        <p:spPr>
          <a:xfrm>
            <a:off x="4343400" y="3383280"/>
            <a:ext cx="3474360" cy="214848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6" name="Shape 16"/>
          <p:cNvSpPr/>
          <p:nvPr/>
        </p:nvSpPr>
        <p:spPr>
          <a:xfrm>
            <a:off x="4617720" y="3611880"/>
            <a:ext cx="868320" cy="36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7" name="Text 17"/>
          <p:cNvSpPr/>
          <p:nvPr/>
        </p:nvSpPr>
        <p:spPr>
          <a:xfrm>
            <a:off x="4617720" y="3611880"/>
            <a:ext cx="868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</a:rPr>
              <a:t>NEXT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 18"/>
          <p:cNvSpPr/>
          <p:nvPr/>
        </p:nvSpPr>
        <p:spPr>
          <a:xfrm>
            <a:off x="4617720" y="411480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Activate the marketplace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 19"/>
          <p:cNvSpPr/>
          <p:nvPr/>
        </p:nvSpPr>
        <p:spPr>
          <a:xfrm>
            <a:off x="4617720" y="4572000"/>
            <a:ext cx="30171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4a527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chemeClr val="dk2"/>
                </a:solidFill>
                <a:latin typeface="Calibri"/>
              </a:rPr>
              <a:t>Onboard lending desks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4a527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chemeClr val="dk2"/>
                </a:solidFill>
                <a:latin typeface="Calibri"/>
              </a:rPr>
              <a:t>Bring in borrowers and lenders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4a527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chemeClr val="dk2"/>
                </a:solidFill>
                <a:latin typeface="Calibri"/>
              </a:rPr>
              <a:t>Validate repayments and alerts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card"/>
          <p:cNvSpPr/>
          <p:nvPr/>
        </p:nvSpPr>
        <p:spPr>
          <a:xfrm>
            <a:off x="8046720" y="3383280"/>
            <a:ext cx="3474360" cy="214848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1" name="Shape 21"/>
          <p:cNvSpPr/>
          <p:nvPr/>
        </p:nvSpPr>
        <p:spPr>
          <a:xfrm>
            <a:off x="8321040" y="3611880"/>
            <a:ext cx="868320" cy="3654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2" name="Text 22"/>
          <p:cNvSpPr/>
          <p:nvPr/>
        </p:nvSpPr>
        <p:spPr>
          <a:xfrm>
            <a:off x="8321040" y="3611880"/>
            <a:ext cx="868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</a:rPr>
              <a:t>THEN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Text 23"/>
          <p:cNvSpPr/>
          <p:nvPr/>
        </p:nvSpPr>
        <p:spPr>
          <a:xfrm>
            <a:off x="8321040" y="411480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Grow the ecosystem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24"/>
          <p:cNvSpPr/>
          <p:nvPr/>
        </p:nvSpPr>
        <p:spPr>
          <a:xfrm>
            <a:off x="8321040" y="4572000"/>
            <a:ext cx="30171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4a527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chemeClr val="dk2"/>
                </a:solidFill>
                <a:latin typeface="Calibri"/>
              </a:rPr>
              <a:t>Grow Seeker adoption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4a527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chemeClr val="dk2"/>
                </a:solidFill>
                <a:latin typeface="Calibri"/>
              </a:rPr>
              <a:t>Add more desks and Circles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4a527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chemeClr val="dk2"/>
                </a:solidFill>
                <a:latin typeface="Calibri"/>
              </a:rPr>
              <a:t>Partner with Solana Mobile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 25"/>
          <p:cNvSpPr/>
          <p:nvPr/>
        </p:nvSpPr>
        <p:spPr>
          <a:xfrm>
            <a:off x="640080" y="5720000"/>
            <a:ext cx="10881000" cy="520000"/>
          </a:xfrm>
          <a:prstGeom prst="roundRect">
            <a:avLst/>
          </a:prstGeom>
          <a:noFill/>
          <a:solidFill>
            <a:schemeClr val="tx1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  <a:defRPr sz="1350" b="1">
                <a:solidFill>
                  <a:srgbClr val="FFFFFF"/>
                </a:solidFill>
                <a:latin typeface="Calibri"/>
              </a:defRPr>
            </a:pPr>
            <a:r>
              <a:t>Mainnet Traction: $50.02 USDC Desk Liquidity · 8% APR · 100% Repaid (1/1) · Live Lender &amp; Staker Yield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6" name="PlaceHolder 1"/>
          <p:cNvSpPr>
            <a:spLocks noGrp="1"/>
          </p:cNvSpPr>
          <p:nvPr>
            <p:ph type="sldNum" idx="15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E0B213F-2C21-4633-8B27-3ACD6F3EDEFA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Shape 0"/>
          <p:cNvSpPr/>
          <p:nvPr/>
        </p:nvSpPr>
        <p:spPr>
          <a:xfrm>
            <a:off x="7680960" y="-1097280"/>
            <a:ext cx="5486040" cy="5486040"/>
          </a:xfrm>
          <a:prstGeom prst="ellipse">
            <a:avLst/>
          </a:prstGeom>
          <a:solidFill>
            <a:srgbClr val="1d1a63"/>
          </a:solidFill>
          <a:ln w="12700">
            <a:solidFill>
              <a:srgbClr val="1d1a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68" name="Image 0" descr="ClockLend logo"/>
          <p:cNvPicPr/>
          <p:nvPr/>
        </p:nvPicPr>
        <p:blipFill>
          <a:blip r:embed="rId1"/>
          <a:stretch/>
        </p:blipFill>
        <p:spPr>
          <a:xfrm>
            <a:off x="731520" y="731520"/>
            <a:ext cx="868320" cy="859320"/>
          </a:xfrm>
          <a:prstGeom prst="rect">
            <a:avLst/>
          </a:prstGeom>
          <a:ln w="0">
            <a:noFill/>
          </a:ln>
        </p:spPr>
      </p:pic>
      <p:sp>
        <p:nvSpPr>
          <p:cNvPr id="269" name="Text 1"/>
          <p:cNvSpPr/>
          <p:nvPr/>
        </p:nvSpPr>
        <p:spPr>
          <a:xfrm>
            <a:off x="731520" y="2103120"/>
            <a:ext cx="73148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chemeClr val="lt1"/>
                </a:solidFill>
                <a:latin typeface="Calibri"/>
              </a:rPr>
              <a:t>Meet the team</a:t>
            </a:r>
            <a:endParaRPr b="0" lang="en-US" sz="6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Text 2"/>
          <p:cNvSpPr/>
          <p:nvPr/>
        </p:nvSpPr>
        <p:spPr>
          <a:xfrm>
            <a:off x="731520" y="3200400"/>
            <a:ext cx="8686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Mobile-first lending built for the Solana Mobile ecosystem.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 3"/>
          <p:cNvSpPr/>
          <p:nvPr/>
        </p:nvSpPr>
        <p:spPr>
          <a:xfrm>
            <a:off x="2057400" y="391356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3"/>
                </a:solidFill>
                <a:latin typeface="Calibri"/>
              </a:rPr>
              <a:t>FOUNDING TEAM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Text 4"/>
          <p:cNvSpPr/>
          <p:nvPr/>
        </p:nvSpPr>
        <p:spPr>
          <a:xfrm>
            <a:off x="2057400" y="4224600"/>
            <a:ext cx="3382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</a:rPr>
              <a:t>Bughacker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5"/>
          <p:cNvSpPr/>
          <p:nvPr/>
        </p:nvSpPr>
        <p:spPr>
          <a:xfrm>
            <a:off x="2057400" y="4681800"/>
            <a:ext cx="338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2"/>
                </a:solidFill>
                <a:latin typeface="Calibri"/>
              </a:rPr>
              <a:t>Founder · Offensive Security Engineer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 6"/>
          <p:cNvSpPr/>
          <p:nvPr/>
        </p:nvSpPr>
        <p:spPr>
          <a:xfrm>
            <a:off x="7086600" y="391356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3"/>
                </a:solidFill>
                <a:latin typeface="Calibri"/>
              </a:rPr>
              <a:t>MOBILE ENGINEERING &amp; DESIGN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Text 7"/>
          <p:cNvSpPr/>
          <p:nvPr/>
        </p:nvSpPr>
        <p:spPr>
          <a:xfrm>
            <a:off x="7086600" y="4224600"/>
            <a:ext cx="3474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</a:rPr>
              <a:t>Awajimimin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Text 8"/>
          <p:cNvSpPr/>
          <p:nvPr/>
        </p:nvSpPr>
        <p:spPr>
          <a:xfrm>
            <a:off x="7086600" y="4681800"/>
            <a:ext cx="3474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2"/>
                </a:solidFill>
                <a:latin typeface="Calibri"/>
              </a:rPr>
              <a:t>Mobile Engineer · Designer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Oval 11"/>
          <p:cNvSpPr/>
          <p:nvPr/>
        </p:nvSpPr>
        <p:spPr>
          <a:xfrm>
            <a:off x="731520" y="3977640"/>
            <a:ext cx="1142640" cy="1142640"/>
          </a:xfrm>
          <a:prstGeom prst="ellipse">
            <a:avLst/>
          </a:prstGeom>
          <a:solidFill>
            <a:srgbClr val="232a3a"/>
          </a:solidFill>
          <a:ln>
            <a:solidFill>
              <a:srgbClr val="5a6e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rgbClr val="dce6f5"/>
                </a:solidFill>
                <a:latin typeface="Calibri"/>
              </a:rPr>
              <a:t>PHOTO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Oval 13"/>
          <p:cNvSpPr/>
          <p:nvPr/>
        </p:nvSpPr>
        <p:spPr>
          <a:xfrm>
            <a:off x="5760720" y="3977640"/>
            <a:ext cx="1142640" cy="1142640"/>
          </a:xfrm>
          <a:prstGeom prst="ellipse">
            <a:avLst/>
          </a:prstGeom>
          <a:solidFill>
            <a:srgbClr val="232a3a"/>
          </a:solidFill>
          <a:ln>
            <a:solidFill>
              <a:srgbClr val="5a6e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rgbClr val="dce6f5"/>
                </a:solidFill>
                <a:latin typeface="Calibri"/>
              </a:rPr>
              <a:t>PHOTO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Box 15"/>
          <p:cNvSpPr/>
          <p:nvPr/>
        </p:nvSpPr>
        <p:spPr>
          <a:xfrm>
            <a:off x="4366800" y="5989320"/>
            <a:ext cx="3061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Code: github.com/luckysitara/ClockLend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TextBox 1"/>
          <p:cNvSpPr/>
          <p:nvPr/>
        </p:nvSpPr>
        <p:spPr>
          <a:xfrm>
            <a:off x="731520" y="1234440"/>
            <a:ext cx="10515240" cy="66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</a:rPr>
              <a:t>ClockLend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Box 2"/>
          <p:cNvSpPr/>
          <p:nvPr/>
        </p:nvSpPr>
        <p:spPr>
          <a:xfrm>
            <a:off x="731520" y="2331720"/>
            <a:ext cx="105152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3000" spc="-1" strike="noStrike">
                <a:solidFill>
                  <a:srgbClr val="69beff"/>
                </a:solidFill>
                <a:latin typeface="Calibri"/>
              </a:rPr>
              <a:t>Thank you.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Box 3"/>
          <p:cNvSpPr/>
          <p:nvPr/>
        </p:nvSpPr>
        <p:spPr>
          <a:xfrm>
            <a:off x="1097280" y="3200400"/>
            <a:ext cx="9783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e1e8f5"/>
                </a:solidFill>
                <a:latin typeface="Calibri"/>
              </a:rPr>
              <a:t>Stake SKR, borrow stablecoin — and keep earning while it’s locked.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Box 4"/>
          <p:cNvSpPr/>
          <p:nvPr/>
        </p:nvSpPr>
        <p:spPr>
          <a:xfrm>
            <a:off x="914400" y="4389120"/>
            <a:ext cx="10332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TRY THE PROTOTYPE  ·  REVIEW THE CODE  ·  BUILD WITH US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TextBox 5"/>
          <p:cNvSpPr/>
          <p:nvPr/>
        </p:nvSpPr>
        <p:spPr>
          <a:xfrm>
            <a:off x="914400" y="4983480"/>
            <a:ext cx="10332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500" spc="-1" strike="noStrike">
                <a:solidFill>
                  <a:srgbClr val="69beff"/>
                </a:solidFill>
                <a:latin typeface="Calibri"/>
              </a:rPr>
              <a:t>github.com/luckysitara/ClockLend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Box 6"/>
          <p:cNvSpPr/>
          <p:nvPr/>
        </p:nvSpPr>
        <p:spPr>
          <a:xfrm>
            <a:off x="914400" y="5715000"/>
            <a:ext cx="10332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100" spc="-1" strike="noStrike">
                <a:solidFill>
                  <a:srgbClr val="aab4c8"/>
                </a:solidFill>
                <a:latin typeface="Calibri"/>
              </a:rPr>
              <a:t>For the Solana Mobile CLOCK IN Hackathon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lockLend">
  <a:themeElements>
    <a:clrScheme name="ClockLend">
      <a:dk1>
        <a:srgbClr val="0b1030"/>
      </a:dk1>
      <a:lt1>
        <a:srgbClr val="ffffff"/>
      </a:lt1>
      <a:dk2>
        <a:srgbClr val="4a5275"/>
      </a:dk2>
      <a:lt2>
        <a:srgbClr val="faf7ee"/>
      </a:lt2>
      <a:accent1>
        <a:srgbClr val="2f5bff"/>
      </a:accent1>
      <a:accent2>
        <a:srgbClr val="6a3df0"/>
      </a:accent2>
      <a:accent3>
        <a:srgbClr val="18c4ee"/>
      </a:accent3>
      <a:accent4>
        <a:srgbClr val="e6e0cf"/>
      </a:accent4>
      <a:accent5>
        <a:srgbClr val="d6453d"/>
      </a:accent5>
      <a:accent6>
        <a:srgbClr val="1e9e68"/>
      </a:accent6>
      <a:hlink>
        <a:srgbClr val="2f5bff"/>
      </a:hlink>
      <a:folHlink>
        <a:srgbClr val="6a3df0"/>
      </a:folHlink>
    </a:clrScheme>
    <a:fontScheme name="ClockLend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lockLend">
  <a:themeElements>
    <a:clrScheme name="ClockLend">
      <a:dk1>
        <a:srgbClr val="0b1030"/>
      </a:dk1>
      <a:lt1>
        <a:srgbClr val="ffffff"/>
      </a:lt1>
      <a:dk2>
        <a:srgbClr val="4a5275"/>
      </a:dk2>
      <a:lt2>
        <a:srgbClr val="faf7ee"/>
      </a:lt2>
      <a:accent1>
        <a:srgbClr val="2f5bff"/>
      </a:accent1>
      <a:accent2>
        <a:srgbClr val="6a3df0"/>
      </a:accent2>
      <a:accent3>
        <a:srgbClr val="18c4ee"/>
      </a:accent3>
      <a:accent4>
        <a:srgbClr val="e6e0cf"/>
      </a:accent4>
      <a:accent5>
        <a:srgbClr val="d6453d"/>
      </a:accent5>
      <a:accent6>
        <a:srgbClr val="1e9e68"/>
      </a:accent6>
      <a:hlink>
        <a:srgbClr val="2f5bff"/>
      </a:hlink>
      <a:folHlink>
        <a:srgbClr val="6a3df0"/>
      </a:folHlink>
    </a:clrScheme>
    <a:fontScheme name="ClockLend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ClockLend">
  <a:themeElements>
    <a:clrScheme name="ClockLend">
      <a:dk1>
        <a:srgbClr val="0b1030"/>
      </a:dk1>
      <a:lt1>
        <a:srgbClr val="ffffff"/>
      </a:lt1>
      <a:dk2>
        <a:srgbClr val="4a5275"/>
      </a:dk2>
      <a:lt2>
        <a:srgbClr val="faf7ee"/>
      </a:lt2>
      <a:accent1>
        <a:srgbClr val="2f5bff"/>
      </a:accent1>
      <a:accent2>
        <a:srgbClr val="6a3df0"/>
      </a:accent2>
      <a:accent3>
        <a:srgbClr val="18c4ee"/>
      </a:accent3>
      <a:accent4>
        <a:srgbClr val="e6e0cf"/>
      </a:accent4>
      <a:accent5>
        <a:srgbClr val="d6453d"/>
      </a:accent5>
      <a:accent6>
        <a:srgbClr val="1e9e68"/>
      </a:accent6>
      <a:hlink>
        <a:srgbClr val="2f5bff"/>
      </a:hlink>
      <a:folHlink>
        <a:srgbClr val="6a3df0"/>
      </a:folHlink>
    </a:clrScheme>
    <a:fontScheme name="ClockLend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2026-10-06T20:27:43Z</dcterms:created>
  <dc:creator>ClockLend</dc:creator>
  <dc:description/>
  <dc:language>en-US</dc:language>
  <cp:lastModifiedBy/>
  <dcterms:modified xsi:type="dcterms:W3CDTF">2026-10-09T00:28:20Z</dcterms:modified>
  <cp:revision>2</cp:revision>
  <dc:subject>PptxGenJS Presentation</dc:subject>
  <dc:title>ClockLend Investor Pitch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