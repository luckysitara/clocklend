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5" r:id="rId15"/>
    <p:sldId id="266" r:id="rId16"/>
    <p:sldId id="271" r:id="rId22"/>
    <p:sldId id="272" r:id="rId23"/>
    <p:sldId id="273" r:id="rId24"/>
    <p:sldId id="267" r:id="rId17"/>
    <p:sldId id="268" r:id="rId18"/>
    <p:sldId id="269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presProps" Target="presProps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6C3F6F9-D39C-4260-9CAA-44153410834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BC403E-B349-4C8A-9E23-32AA87CA7FF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BB9A1A-0627-40BA-9495-A47BB4BABB6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9BB777-49D5-43EE-9ECC-28BE9116F94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11F0FE-74AB-472A-8A7A-1312D37326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0E43BF-2AD4-48C3-BED2-AEEB6CE1BE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A859DB-BC1C-4153-A2D9-7729684FDCE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7A3A23-E0C6-4CB9-8E98-7C9840AFE2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D1CFBE-87FB-43F2-BFF7-7AC3245A360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F8FFDD-1A7B-44EE-BAD3-6CEE2F47FD1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65D0CFF-7D2F-46FE-A8D8-D0220B1ED7E2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2"/>
                </a:solidFill>
                <a:latin typeface="Calibri"/>
              </a:rPr>
              <a:t>ClockLend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EACCC-A63E-4CDB-93C7-25789569F6B0}" type="slidenum">
              <a:rPr b="0" lang="en-US" sz="1100" spc="-1" strike="noStrike">
                <a:solidFill>
                  <a:schemeClr val="dk2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10" Type="http://schemas.openxmlformats.org/officeDocument/2006/relationships/image" Target="../media/team_a.png"/><Relationship Id="rId11" Type="http://schemas.openxmlformats.org/officeDocument/2006/relationships/image" Target="../media/team_b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6949440" y="1280160"/>
            <a:ext cx="4571640" cy="4571640"/>
          </a:xfrm>
          <a:prstGeom prst="ellipse">
            <a:avLst/>
          </a:prstGeom>
          <a:solidFill>
            <a:srgbClr val="16286e"/>
          </a:solidFill>
          <a:ln w="12700">
            <a:solidFill>
              <a:srgbClr val="162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" name="Image 0" descr="ClockLend logo"/>
          <p:cNvPicPr/>
          <p:nvPr/>
        </p:nvPicPr>
        <p:blipFill>
          <a:blip r:embed="rId1"/>
          <a:stretch/>
        </p:blipFill>
        <p:spPr>
          <a:xfrm>
            <a:off x="731520" y="731520"/>
            <a:ext cx="868320" cy="859320"/>
          </a:xfrm>
          <a:prstGeom prst="rect">
            <a:avLst/>
          </a:prstGeom>
          <a:ln w="0">
            <a:noFill/>
          </a:ln>
        </p:spPr>
      </p:pic>
      <p:sp>
        <p:nvSpPr>
          <p:cNvPr id="14" name="Text 1"/>
          <p:cNvSpPr/>
          <p:nvPr/>
        </p:nvSpPr>
        <p:spPr>
          <a:xfrm>
            <a:off x="731520" y="2011680"/>
            <a:ext cx="6400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600" spc="-1" strike="noStrike">
                <a:solidFill>
                  <a:schemeClr val="lt1"/>
                </a:solidFill>
                <a:latin typeface="Calibri"/>
              </a:rPr>
              <a:t>ClockLend</a:t>
            </a:r>
            <a:endParaRPr b="0" lang="en-US" sz="6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731520" y="3108960"/>
            <a:ext cx="60346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chemeClr val="accent3"/>
                </a:solidFill>
                <a:latin typeface="Calibri"/>
              </a:rPr>
              <a:t>Borrow stablecoin against your SKR. No selling, and a 24-hour rescue window.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Image 1" descr="ClockLend app screen"/>
          <p:cNvPicPr/>
          <p:nvPr/>
        </p:nvPicPr>
        <p:blipFill>
          <a:blip r:embed="rId2"/>
          <a:stretch/>
        </p:blipFill>
        <p:spPr>
          <a:xfrm>
            <a:off x="7781760" y="502920"/>
            <a:ext cx="2907360" cy="5851800"/>
          </a:xfrm>
          <a:prstGeom prst="rect">
            <a:avLst/>
          </a:prstGeom>
          <a:ln w="0">
            <a:noFill/>
          </a:ln>
        </p:spPr>
      </p:pic>
      <p:sp>
        <p:nvSpPr>
          <p:cNvPr id="18" name="Hook"/>
          <p:cNvSpPr txBox="1"/>
          <p:nvPr/>
        </p:nvSpPr>
        <p:spPr>
          <a:xfrm>
            <a:off x="731520" y="4480560"/>
            <a:ext cx="6034680" cy="9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i="1">
                <a:solidFill>
                  <a:srgbClr val="FFFFFF"/>
                </a:solidFill>
                <a:latin typeface="Calibri"/>
              </a:rPr>
              <a:t>Holding crypto you believe in, but need cash fast? Sell it, or miss out on liquidity?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640080" y="45720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One price dip can wipe out a small crypto loan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card"/>
          <p:cNvSpPr/>
          <p:nvPr/>
        </p:nvSpPr>
        <p:spPr>
          <a:xfrm>
            <a:off x="640080" y="1737360"/>
            <a:ext cx="10881000" cy="127980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960120" y="2039040"/>
            <a:ext cx="676440" cy="6764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1" name="Image 0" descr="icon"/>
          <p:cNvPicPr/>
          <p:nvPr/>
        </p:nvPicPr>
        <p:blipFill>
          <a:blip r:embed="rId1"/>
          <a:stretch/>
        </p:blipFill>
        <p:spPr>
          <a:xfrm>
            <a:off x="1136160" y="2215080"/>
            <a:ext cx="324360" cy="324360"/>
          </a:xfrm>
          <a:prstGeom prst="rect">
            <a:avLst/>
          </a:prstGeom>
          <a:ln w="0">
            <a:noFill/>
          </a:ln>
        </p:spPr>
      </p:pic>
      <p:sp>
        <p:nvSpPr>
          <p:cNvPr id="22" name="Text 3"/>
          <p:cNvSpPr/>
          <p:nvPr/>
        </p:nvSpPr>
        <p:spPr>
          <a:xfrm>
            <a:off x="1965960" y="1920240"/>
            <a:ext cx="9235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Quick to punish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1965960" y="2322720"/>
            <a:ext cx="9235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2"/>
                </a:solidFill>
                <a:latin typeface="Calibri"/>
              </a:rPr>
              <a:t>A sudden price dip can trigger an automatic sale of your collateral before you can react.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card"/>
          <p:cNvSpPr/>
          <p:nvPr/>
        </p:nvSpPr>
        <p:spPr>
          <a:xfrm>
            <a:off x="640080" y="3200400"/>
            <a:ext cx="10881000" cy="127980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Shape 6"/>
          <p:cNvSpPr/>
          <p:nvPr/>
        </p:nvSpPr>
        <p:spPr>
          <a:xfrm>
            <a:off x="960120" y="3502080"/>
            <a:ext cx="676440" cy="6764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6" name="Image 1" descr="icon"/>
          <p:cNvPicPr/>
          <p:nvPr/>
        </p:nvPicPr>
        <p:blipFill>
          <a:blip r:embed="rId2"/>
          <a:stretch/>
        </p:blipFill>
        <p:spPr>
          <a:xfrm>
            <a:off x="1136160" y="3678120"/>
            <a:ext cx="324360" cy="324360"/>
          </a:xfrm>
          <a:prstGeom prst="rect">
            <a:avLst/>
          </a:prstGeom>
          <a:ln w="0">
            <a:noFill/>
          </a:ln>
        </p:spPr>
      </p:pic>
      <p:sp>
        <p:nvSpPr>
          <p:cNvPr id="27" name="Text 7"/>
          <p:cNvSpPr/>
          <p:nvPr/>
        </p:nvSpPr>
        <p:spPr>
          <a:xfrm>
            <a:off x="1965960" y="3383280"/>
            <a:ext cx="9235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No social context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1965960" y="3785760"/>
            <a:ext cx="9235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2"/>
                </a:solidFill>
                <a:latin typeface="Calibri"/>
              </a:rPr>
              <a:t>Protocols rarely account for trusted circles, friends, communities or bilateral credit.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card"/>
          <p:cNvSpPr/>
          <p:nvPr/>
        </p:nvSpPr>
        <p:spPr>
          <a:xfrm>
            <a:off x="640080" y="4663440"/>
            <a:ext cx="10881000" cy="127980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960120" y="4965120"/>
            <a:ext cx="676440" cy="6764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1" name="Image 2" descr="icon"/>
          <p:cNvPicPr/>
          <p:nvPr/>
        </p:nvPicPr>
        <p:blipFill>
          <a:blip r:embed="rId3"/>
          <a:stretch/>
        </p:blipFill>
        <p:spPr>
          <a:xfrm>
            <a:off x="1136160" y="5141160"/>
            <a:ext cx="324360" cy="324360"/>
          </a:xfrm>
          <a:prstGeom prst="rect">
            <a:avLst/>
          </a:prstGeom>
          <a:ln w="0">
            <a:noFill/>
          </a:ln>
        </p:spPr>
      </p:pic>
      <p:sp>
        <p:nvSpPr>
          <p:cNvPr id="32" name="Text 11"/>
          <p:cNvSpPr/>
          <p:nvPr/>
        </p:nvSpPr>
        <p:spPr>
          <a:xfrm>
            <a:off x="1965960" y="4846320"/>
            <a:ext cx="9235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Mobile gap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1965960" y="5248800"/>
            <a:ext cx="9235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2"/>
                </a:solidFill>
                <a:latin typeface="Calibri"/>
              </a:rPr>
              <a:t>Most lending apps are built for desktop experts, not for people borrowing from their phones.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sldNum" idx="5"/>
          </p:nvPr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3D8CA9-1314-4647-BFD2-F8C92FD77C14}" type="slidenum">
              <a:rPr b="0" lang="en-US" sz="1100" spc="-1" strike="noStrike">
                <a:solidFill>
                  <a:schemeClr val="dk2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640080" y="45720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Others liquidate on a price dip. We give you 24 hours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640080" y="173736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5"/>
                </a:solidFill>
                <a:latin typeface="Calibri"/>
              </a:rPr>
              <a:t>KAMINO / MARGINFI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640080" y="2194560"/>
            <a:ext cx="3565800" cy="7311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e6e0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Text 3"/>
          <p:cNvSpPr/>
          <p:nvPr/>
        </p:nvSpPr>
        <p:spPr>
          <a:xfrm>
            <a:off x="640080" y="219456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dk1"/>
                </a:solidFill>
                <a:latin typeface="Calibri"/>
              </a:rPr>
              <a:t>Position health falls below threshold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640080" y="29444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Calibri"/>
              </a:rPr>
              <a:t>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640080" y="3337560"/>
            <a:ext cx="3565800" cy="7311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e6e0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Text 6"/>
          <p:cNvSpPr/>
          <p:nvPr/>
        </p:nvSpPr>
        <p:spPr>
          <a:xfrm>
            <a:off x="640080" y="333756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dk1"/>
                </a:solidFill>
                <a:latin typeface="Calibri"/>
              </a:rPr>
              <a:t>Position becomes eligible for liquidation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640080" y="40874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Calibri"/>
              </a:rPr>
              <a:t>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640080" y="4480560"/>
            <a:ext cx="3565800" cy="7311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e6e0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Text 9"/>
          <p:cNvSpPr/>
          <p:nvPr/>
        </p:nvSpPr>
        <p:spPr>
          <a:xfrm>
            <a:off x="640080" y="448056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Collateral may be seized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4434840" y="173736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CLOCKLEND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4434840" y="2194560"/>
            <a:ext cx="3565800" cy="73116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rgbClr val="0b1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4434840" y="219456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Loan reaches its due time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4434840" y="29444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Calibri"/>
              </a:rPr>
              <a:t>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4"/>
          <p:cNvSpPr/>
          <p:nvPr/>
        </p:nvSpPr>
        <p:spPr>
          <a:xfrm>
            <a:off x="4434840" y="3337560"/>
            <a:ext cx="3565800" cy="73116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rgbClr val="0b1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4434840" y="333756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24-hour rescue window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4434840" y="40874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Calibri"/>
              </a:rPr>
              <a:t>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7"/>
          <p:cNvSpPr/>
          <p:nvPr/>
        </p:nvSpPr>
        <p:spPr>
          <a:xfrm>
            <a:off x="4434840" y="4480560"/>
            <a:ext cx="3565800" cy="73116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rgbClr val="0b1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Text 18"/>
          <p:cNvSpPr/>
          <p:nvPr/>
        </p:nvSpPr>
        <p:spPr>
          <a:xfrm>
            <a:off x="4434840" y="448056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Repay — or raise funds before settlement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card"/>
          <p:cNvSpPr/>
          <p:nvPr/>
        </p:nvSpPr>
        <p:spPr>
          <a:xfrm>
            <a:off x="8229600" y="2194560"/>
            <a:ext cx="3291480" cy="301716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8503920" y="2468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3"/>
                </a:solidFill>
                <a:latin typeface="Calibri"/>
              </a:rPr>
              <a:t>THE DIFFERENCE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8503920" y="2834640"/>
            <a:ext cx="27428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</a:rPr>
              <a:t>Kamino and Marginfi use collateral-health and liquidation rules, not a universal missed-payment clock. ClockLend is designed around fixed-term loans with a visible 24-hour rescue window after the due time.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22"/>
          <p:cNvSpPr/>
          <p:nvPr/>
        </p:nvSpPr>
        <p:spPr>
          <a:xfrm>
            <a:off x="640080" y="5440680"/>
            <a:ext cx="10881000" cy="685440"/>
          </a:xfrm>
          <a:prstGeom prst="roundRect">
            <a:avLst>
              <a:gd name="adj" fmla="val 49333"/>
            </a:avLst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Text 23"/>
          <p:cNvSpPr/>
          <p:nvPr/>
        </p:nvSpPr>
        <p:spPr>
          <a:xfrm>
            <a:off x="640080" y="54406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</a:rPr>
              <a:t>Why onchain: escrow and loan rules are enforced by the program, including the 24-hour rescue window.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sldNum" idx="6"/>
          </p:nvPr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C45896-090C-4746-BC44-7B859FBD9C8C}" type="slidenum">
              <a:rPr b="0" lang="en-US" sz="1100" spc="-1" strike="noStrike">
                <a:solidFill>
                  <a:schemeClr val="dk2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640080" y="45720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See it working: find a desk, borrow, repay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Image 0" descr="ClockLend app screen"/>
          <p:cNvPicPr/>
          <p:nvPr/>
        </p:nvPicPr>
        <p:blipFill>
          <a:blip r:embed="rId1"/>
          <a:stretch/>
        </p:blipFill>
        <p:spPr>
          <a:xfrm>
            <a:off x="1446840" y="1508760"/>
            <a:ext cx="2044080" cy="4114440"/>
          </a:xfrm>
          <a:prstGeom prst="rect">
            <a:avLst/>
          </a:prstGeom>
          <a:ln w="0">
            <a:noFill/>
          </a:ln>
        </p:spPr>
      </p:pic>
      <p:sp>
        <p:nvSpPr>
          <p:cNvPr id="62" name="Text 1"/>
          <p:cNvSpPr/>
          <p:nvPr/>
        </p:nvSpPr>
        <p:spPr>
          <a:xfrm>
            <a:off x="640080" y="57150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1 · YOUR HOME BASE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640080" y="60166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Calibri"/>
              </a:rPr>
              <a:t>Balance, activity and credit ranking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Image 1" descr="ClockLend app screen"/>
          <p:cNvPicPr/>
          <p:nvPr/>
        </p:nvPicPr>
        <p:blipFill>
          <a:blip r:embed="rId2"/>
          <a:stretch/>
        </p:blipFill>
        <p:spPr>
          <a:xfrm>
            <a:off x="5028840" y="1508760"/>
            <a:ext cx="2140200" cy="4114440"/>
          </a:xfrm>
          <a:prstGeom prst="rect">
            <a:avLst/>
          </a:prstGeom>
          <a:ln w="0">
            <a:noFill/>
          </a:ln>
        </p:spPr>
      </p:pic>
      <p:sp>
        <p:nvSpPr>
          <p:cNvPr id="65" name="Text 3"/>
          <p:cNvSpPr/>
          <p:nvPr/>
        </p:nvSpPr>
        <p:spPr>
          <a:xfrm>
            <a:off x="4270320" y="57150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2 · FIND A DESK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4270320" y="60166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defRPr sz="1300">
                <a:latin typeface="Calibri"/>
              </a:defRPr>
            </a:pPr>
            <a:r>
              <a:t>Compare rates, limits and funds — Genesis Desk #2 live with $50.02 USDC at 8% APR</a:t>
            </a:r>
          </a:p>
        </p:txBody>
      </p:sp>
      <p:pic>
        <p:nvPicPr>
          <p:cNvPr id="67" name="Image 2" descr="ClockLend app screen"/>
          <p:cNvPicPr/>
          <p:nvPr/>
        </p:nvPicPr>
        <p:blipFill>
          <a:blip r:embed="rId3"/>
          <a:stretch/>
        </p:blipFill>
        <p:spPr>
          <a:xfrm>
            <a:off x="8649720" y="1508760"/>
            <a:ext cx="2140200" cy="4114440"/>
          </a:xfrm>
          <a:prstGeom prst="rect">
            <a:avLst/>
          </a:prstGeom>
          <a:ln w="0">
            <a:noFill/>
          </a:ln>
        </p:spPr>
      </p:pic>
      <p:sp>
        <p:nvSpPr>
          <p:cNvPr id="68" name="Text 5"/>
          <p:cNvSpPr/>
          <p:nvPr/>
        </p:nvSpPr>
        <p:spPr>
          <a:xfrm>
            <a:off x="7891200" y="57150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3 · REPAY WITH CONFIDENCE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7891200" y="60166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defRPr sz="1300">
                <a:latin typeface="Calibri"/>
              </a:defRPr>
            </a:pPr>
            <a:r>
              <a:t>Live countdown and one-tap settlement — verified 100% repayment on Seeker hardware</a:t>
            </a:r>
          </a:p>
        </p:txBody>
      </p:sp>
      <p:sp>
        <p:nvSpPr>
          <p:cNvPr id="70" name="PlaceHolder 1"/>
          <p:cNvSpPr>
            <a:spLocks noGrp="1"/>
          </p:cNvSpPr>
          <p:nvPr>
            <p:ph type="sldNum" idx="7"/>
          </p:nvPr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2DCDE1-F98D-4006-9E8F-7FE99102CC3B}" type="slidenum">
              <a:rPr b="0" lang="en-US" sz="1100" spc="-1" strike="noStrike">
                <a:solidFill>
                  <a:schemeClr val="dk2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640080" y="45720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How it works: six steps from request to repayment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"/>
          <p:cNvSpPr/>
          <p:nvPr/>
        </p:nvSpPr>
        <p:spPr>
          <a:xfrm>
            <a:off x="1508760" y="2057400"/>
            <a:ext cx="9052560" cy="360"/>
          </a:xfrm>
          <a:prstGeom prst="line">
            <a:avLst/>
          </a:prstGeom>
          <a:ln w="25400">
            <a:solidFill>
              <a:srgbClr val="e6e0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Shape 2"/>
          <p:cNvSpPr/>
          <p:nvPr/>
        </p:nvSpPr>
        <p:spPr>
          <a:xfrm>
            <a:off x="1143000" y="1691640"/>
            <a:ext cx="731160" cy="7311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af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Text 3"/>
          <p:cNvSpPr/>
          <p:nvPr/>
        </p:nvSpPr>
        <p:spPr>
          <a:xfrm>
            <a:off x="1143000" y="16916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lt1"/>
                </a:solidFill>
                <a:latin typeface="Calibri"/>
              </a:rPr>
              <a:t>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685800" y="260604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Connect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685800" y="301752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Your Seeker wallet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6"/>
          <p:cNvSpPr/>
          <p:nvPr/>
        </p:nvSpPr>
        <p:spPr>
          <a:xfrm>
            <a:off x="2953440" y="1691640"/>
            <a:ext cx="731160" cy="7311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af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Text 7"/>
          <p:cNvSpPr/>
          <p:nvPr/>
        </p:nvSpPr>
        <p:spPr>
          <a:xfrm>
            <a:off x="2953440" y="16916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lt1"/>
                </a:solidFill>
                <a:latin typeface="Calibri"/>
              </a:rPr>
              <a:t>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8"/>
          <p:cNvSpPr/>
          <p:nvPr/>
        </p:nvSpPr>
        <p:spPr>
          <a:xfrm>
            <a:off x="2496240" y="260604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Request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9"/>
          <p:cNvSpPr/>
          <p:nvPr/>
        </p:nvSpPr>
        <p:spPr>
          <a:xfrm>
            <a:off x="2496240" y="301752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Amount, collateral and time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0"/>
          <p:cNvSpPr/>
          <p:nvPr/>
        </p:nvSpPr>
        <p:spPr>
          <a:xfrm>
            <a:off x="4763880" y="1691640"/>
            <a:ext cx="731160" cy="7311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af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Text 11"/>
          <p:cNvSpPr/>
          <p:nvPr/>
        </p:nvSpPr>
        <p:spPr>
          <a:xfrm>
            <a:off x="4763880" y="16916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lt1"/>
                </a:solidFill>
                <a:latin typeface="Calibri"/>
              </a:rPr>
              <a:t>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2"/>
          <p:cNvSpPr/>
          <p:nvPr/>
        </p:nvSpPr>
        <p:spPr>
          <a:xfrm>
            <a:off x="4306680" y="260604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Match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4306680" y="301752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Lowest-APR desk, auto-routed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4"/>
          <p:cNvSpPr/>
          <p:nvPr/>
        </p:nvSpPr>
        <p:spPr>
          <a:xfrm>
            <a:off x="6574680" y="1691640"/>
            <a:ext cx="731160" cy="7311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af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Text 15"/>
          <p:cNvSpPr/>
          <p:nvPr/>
        </p:nvSpPr>
        <p:spPr>
          <a:xfrm>
            <a:off x="6574680" y="16916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lt1"/>
                </a:solidFill>
                <a:latin typeface="Calibri"/>
              </a:rPr>
              <a:t>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6"/>
          <p:cNvSpPr/>
          <p:nvPr/>
        </p:nvSpPr>
        <p:spPr>
          <a:xfrm>
            <a:off x="6117480" y="260604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Lock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7"/>
          <p:cNvSpPr/>
          <p:nvPr/>
        </p:nvSpPr>
        <p:spPr>
          <a:xfrm>
            <a:off x="6117480" y="301752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Collateral goes into escrow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8"/>
          <p:cNvSpPr/>
          <p:nvPr/>
        </p:nvSpPr>
        <p:spPr>
          <a:xfrm>
            <a:off x="8385120" y="1691640"/>
            <a:ext cx="731160" cy="7311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af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Text 19"/>
          <p:cNvSpPr/>
          <p:nvPr/>
        </p:nvSpPr>
        <p:spPr>
          <a:xfrm>
            <a:off x="8385120" y="16916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lt1"/>
                </a:solidFill>
                <a:latin typeface="Calibri"/>
              </a:rPr>
              <a:t>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20"/>
          <p:cNvSpPr/>
          <p:nvPr/>
        </p:nvSpPr>
        <p:spPr>
          <a:xfrm>
            <a:off x="7927920" y="260604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Receive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21"/>
          <p:cNvSpPr/>
          <p:nvPr/>
        </p:nvSpPr>
        <p:spPr>
          <a:xfrm>
            <a:off x="7927920" y="301752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Funds land in your wallet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22"/>
          <p:cNvSpPr/>
          <p:nvPr/>
        </p:nvSpPr>
        <p:spPr>
          <a:xfrm>
            <a:off x="10195560" y="1691640"/>
            <a:ext cx="731160" cy="7311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af7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Text 23"/>
          <p:cNvSpPr/>
          <p:nvPr/>
        </p:nvSpPr>
        <p:spPr>
          <a:xfrm>
            <a:off x="10195560" y="16916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lt1"/>
                </a:solidFill>
                <a:latin typeface="Calibri"/>
              </a:rPr>
              <a:t>6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24"/>
          <p:cNvSpPr/>
          <p:nvPr/>
        </p:nvSpPr>
        <p:spPr>
          <a:xfrm>
            <a:off x="9738360" y="260604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Repay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25"/>
          <p:cNvSpPr/>
          <p:nvPr/>
        </p:nvSpPr>
        <p:spPr>
          <a:xfrm>
            <a:off x="9738360" y="301752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Principal plus interest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card"/>
          <p:cNvSpPr/>
          <p:nvPr/>
        </p:nvSpPr>
        <p:spPr>
          <a:xfrm>
            <a:off x="640080" y="4160520"/>
            <a:ext cx="5321520" cy="187416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Shape 27"/>
          <p:cNvSpPr/>
          <p:nvPr/>
        </p:nvSpPr>
        <p:spPr>
          <a:xfrm>
            <a:off x="914400" y="4434840"/>
            <a:ext cx="639720" cy="6397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9" name="Image 0" descr="icon"/>
          <p:cNvPicPr/>
          <p:nvPr/>
        </p:nvPicPr>
        <p:blipFill>
          <a:blip r:embed="rId1"/>
          <a:stretch/>
        </p:blipFill>
        <p:spPr>
          <a:xfrm>
            <a:off x="1080720" y="46011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00" name="Text 28"/>
          <p:cNvSpPr/>
          <p:nvPr/>
        </p:nvSpPr>
        <p:spPr>
          <a:xfrm>
            <a:off x="1783080" y="443484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Rules enforced by code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29"/>
          <p:cNvSpPr/>
          <p:nvPr/>
        </p:nvSpPr>
        <p:spPr>
          <a:xfrm>
            <a:off x="1783080" y="4846320"/>
            <a:ext cx="3931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Escrow and loan terms are enforced by the on-chain program.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card"/>
          <p:cNvSpPr/>
          <p:nvPr/>
        </p:nvSpPr>
        <p:spPr>
          <a:xfrm>
            <a:off x="6199560" y="4160520"/>
            <a:ext cx="5321520" cy="187416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Shape 31"/>
          <p:cNvSpPr/>
          <p:nvPr/>
        </p:nvSpPr>
        <p:spPr>
          <a:xfrm>
            <a:off x="6473880" y="4434840"/>
            <a:ext cx="639720" cy="63972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6a3d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4" name="Image 1" descr="icon"/>
          <p:cNvPicPr/>
          <p:nvPr/>
        </p:nvPicPr>
        <p:blipFill>
          <a:blip r:embed="rId2"/>
          <a:stretch/>
        </p:blipFill>
        <p:spPr>
          <a:xfrm>
            <a:off x="6640200" y="46011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05" name="Text 32"/>
          <p:cNvSpPr/>
          <p:nvPr/>
        </p:nvSpPr>
        <p:spPr>
          <a:xfrm>
            <a:off x="7342560" y="443484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A clock you can see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33"/>
          <p:cNvSpPr/>
          <p:nvPr/>
        </p:nvSpPr>
        <p:spPr>
          <a:xfrm>
            <a:off x="7342560" y="4846320"/>
            <a:ext cx="3931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Every loan shows a live countdown, so you always know what happens next.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sldNum" idx="8"/>
          </p:nvPr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C8495A-AE00-4E3D-939A-014F9EC53B3D}" type="slidenum">
              <a:rPr b="0" lang="en-US" sz="1100" spc="-1" strike="noStrike">
                <a:solidFill>
                  <a:schemeClr val="dk2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640080" y="45720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How ClockLend makes money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card"/>
          <p:cNvSpPr/>
          <p:nvPr/>
        </p:nvSpPr>
        <p:spPr>
          <a:xfrm>
            <a:off x="640080" y="1737360"/>
            <a:ext cx="6766200" cy="4297320"/>
          </a:xfrm>
          <a:prstGeom prst="roundRect">
            <a:avLst>
              <a:gd name="adj" fmla="val 2553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914400" y="196596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1"/>
                </a:solidFill>
                <a:latin typeface="Calibri"/>
              </a:rPr>
              <a:t>EXAMPLE: A $100, 30-DAY LOAN AT 8% FLAT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3"/>
          <p:cNvSpPr/>
          <p:nvPr/>
        </p:nvSpPr>
        <p:spPr>
          <a:xfrm>
            <a:off x="914400" y="2377440"/>
            <a:ext cx="2102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libri"/>
              </a:rPr>
              <a:t>$100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914400" y="31089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You borrow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3063240" y="2377440"/>
            <a:ext cx="2102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chemeClr val="accent1"/>
                </a:solidFill>
                <a:latin typeface="Calibri"/>
              </a:rPr>
              <a:t>+ $8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3063240" y="31089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Interest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7"/>
          <p:cNvSpPr/>
          <p:nvPr/>
        </p:nvSpPr>
        <p:spPr>
          <a:xfrm>
            <a:off x="5212080" y="2377440"/>
            <a:ext cx="2102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libri"/>
              </a:rPr>
              <a:t>= $108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5212080" y="31089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You repay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9"/>
          <p:cNvSpPr/>
          <p:nvPr/>
        </p:nvSpPr>
        <p:spPr>
          <a:xfrm>
            <a:off x="914400" y="3703320"/>
            <a:ext cx="6217920" cy="360"/>
          </a:xfrm>
          <a:prstGeom prst="line">
            <a:avLst/>
          </a:prstGeom>
          <a:ln w="12700">
            <a:solidFill>
              <a:srgbClr val="e6e0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4" name="Text 10"/>
          <p:cNvSpPr/>
          <p:nvPr/>
        </p:nvSpPr>
        <p:spPr>
          <a:xfrm>
            <a:off x="914400" y="3886200"/>
            <a:ext cx="6217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Where the $8 of interest goes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1"/>
          <p:cNvSpPr/>
          <p:nvPr/>
        </p:nvSpPr>
        <p:spPr>
          <a:xfrm>
            <a:off x="914400" y="4343400"/>
            <a:ext cx="5284800" cy="4568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6" name="Shape 12"/>
          <p:cNvSpPr/>
          <p:nvPr/>
        </p:nvSpPr>
        <p:spPr>
          <a:xfrm>
            <a:off x="6199560" y="4343400"/>
            <a:ext cx="932400" cy="4568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6a3d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7" name="Text 13"/>
          <p:cNvSpPr/>
          <p:nvPr/>
        </p:nvSpPr>
        <p:spPr>
          <a:xfrm>
            <a:off x="914400" y="489204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Lenders keep $6.80 (85%)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4"/>
          <p:cNvSpPr/>
          <p:nvPr/>
        </p:nvSpPr>
        <p:spPr>
          <a:xfrm>
            <a:off x="4206240" y="48920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ClockLend $1.20 (15%)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5"/>
          <p:cNvSpPr/>
          <p:nvPr/>
        </p:nvSpPr>
        <p:spPr>
          <a:xfrm>
            <a:off x="914400" y="5486400"/>
            <a:ext cx="6217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defRPr sz="1100" i="1">
                <a:solidFill>
                  <a:srgbClr val="64748B"/>
                </a:solidFill>
                <a:latin typeface="Calibri"/>
              </a:defRPr>
            </a:pPr>
            <a:r>
              <a:t>Verified on mainnet: one loan originated and repaid on Seeker hardware. Lender yield $0.0159 USDC (85%) and protocol treasury $0.0040 USDC. Early and tiny; revenue scales with volume. Shorter terms prorate the interest.</a:t>
            </a:r>
          </a:p>
        </p:txBody>
      </p:sp>
      <p:sp>
        <p:nvSpPr>
          <p:cNvPr id="200" name="card"/>
          <p:cNvSpPr/>
          <p:nvPr/>
        </p:nvSpPr>
        <p:spPr>
          <a:xfrm>
            <a:off x="7680960" y="1737360"/>
            <a:ext cx="3840120" cy="137124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1" name="Shape 17"/>
          <p:cNvSpPr/>
          <p:nvPr/>
        </p:nvSpPr>
        <p:spPr>
          <a:xfrm>
            <a:off x="7909560" y="2103120"/>
            <a:ext cx="639720" cy="6397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2" name="Image 0" descr="icon"/>
          <p:cNvPicPr/>
          <p:nvPr/>
        </p:nvPicPr>
        <p:blipFill>
          <a:blip r:embed="rId1"/>
          <a:stretch/>
        </p:blipFill>
        <p:spPr>
          <a:xfrm>
            <a:off x="8075880" y="226944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203" name="Text 18"/>
          <p:cNvSpPr/>
          <p:nvPr/>
        </p:nvSpPr>
        <p:spPr>
          <a:xfrm>
            <a:off x="8732520" y="1920240"/>
            <a:ext cx="2697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A small start fee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9"/>
          <p:cNvSpPr/>
          <p:nvPr/>
        </p:nvSpPr>
        <p:spPr>
          <a:xfrm>
            <a:off x="8732520" y="2286000"/>
            <a:ext cx="2697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defRPr sz="1250">
                <a:latin typeface="Calibri"/>
              </a:defRPr>
            </a:pPr>
            <a:r>
              <a:t>0.25% (SOL collateral) or 0.50% (SKR), withheld at payout.</a:t>
            </a:r>
          </a:p>
        </p:txBody>
      </p:sp>
      <p:sp>
        <p:nvSpPr>
          <p:cNvPr id="205" name="card"/>
          <p:cNvSpPr/>
          <p:nvPr/>
        </p:nvSpPr>
        <p:spPr>
          <a:xfrm>
            <a:off x="7680960" y="3200400"/>
            <a:ext cx="3840120" cy="137124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6" name="Shape 21"/>
          <p:cNvSpPr/>
          <p:nvPr/>
        </p:nvSpPr>
        <p:spPr>
          <a:xfrm>
            <a:off x="7909560" y="3566160"/>
            <a:ext cx="639720" cy="63972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6a3d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7" name="Image 1" descr="icon"/>
          <p:cNvPicPr/>
          <p:nvPr/>
        </p:nvPicPr>
        <p:blipFill>
          <a:blip r:embed="rId2"/>
          <a:stretch/>
        </p:blipFill>
        <p:spPr>
          <a:xfrm>
            <a:off x="8075880" y="37324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208" name="Text 22"/>
          <p:cNvSpPr/>
          <p:nvPr/>
        </p:nvSpPr>
        <p:spPr>
          <a:xfrm>
            <a:off x="8732520" y="3383280"/>
            <a:ext cx="2697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15% of the interest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23"/>
          <p:cNvSpPr/>
          <p:nvPr/>
        </p:nvSpPr>
        <p:spPr>
          <a:xfrm>
            <a:off x="8732520" y="3749040"/>
            <a:ext cx="2697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defRPr sz="1250">
                <a:latin typeface="Calibri"/>
              </a:defRPr>
            </a:pPr>
            <a:r>
              <a:t>Taken from interest, so we earn when lenders earn. Mainnet treasury so far: $0.0040 USDC.</a:t>
            </a:r>
          </a:p>
        </p:txBody>
      </p:sp>
      <p:sp>
        <p:nvSpPr>
          <p:cNvPr id="210" name="card"/>
          <p:cNvSpPr/>
          <p:nvPr/>
        </p:nvSpPr>
        <p:spPr>
          <a:xfrm>
            <a:off x="7680960" y="4663440"/>
            <a:ext cx="3840120" cy="137124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1" name="Shape 25"/>
          <p:cNvSpPr/>
          <p:nvPr/>
        </p:nvSpPr>
        <p:spPr>
          <a:xfrm>
            <a:off x="7909560" y="5029200"/>
            <a:ext cx="639720" cy="63972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18c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12" name="Image 2" descr="icon"/>
          <p:cNvPicPr/>
          <p:nvPr/>
        </p:nvPicPr>
        <p:blipFill>
          <a:blip r:embed="rId3"/>
          <a:stretch/>
        </p:blipFill>
        <p:spPr>
          <a:xfrm>
            <a:off x="8075880" y="51955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213" name="Text 26"/>
          <p:cNvSpPr/>
          <p:nvPr/>
        </p:nvSpPr>
        <p:spPr>
          <a:xfrm>
            <a:off x="8732520" y="4846320"/>
            <a:ext cx="2697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50% of the surplus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27"/>
          <p:cNvSpPr/>
          <p:nvPr/>
        </p:nvSpPr>
        <p:spPr>
          <a:xfrm>
            <a:off x="8732520" y="5212080"/>
            <a:ext cx="2697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chemeClr val="dk2"/>
                </a:solidFill>
                <a:latin typeface="Calibri"/>
              </a:rPr>
              <a:t>On a default after grace, half of any collateral value above the debt goes to the protocol. The rest returns to the borrower.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sldNum" idx="13"/>
          </p:nvPr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F3BBFF-796F-4475-93C3-8919778D9483}" type="slidenum">
              <a:rPr b="0" lang="en-US" sz="1100" spc="-1" strike="noStrike">
                <a:solidFill>
                  <a:schemeClr val="dk2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640080" y="45720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SKR: borrow against it, stake it in Seed Vault, pay less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card"/>
          <p:cNvSpPr/>
          <p:nvPr/>
        </p:nvSpPr>
        <p:spPr>
          <a:xfrm>
            <a:off x="640080" y="1737360"/>
            <a:ext cx="2578320" cy="347436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868680" y="2011680"/>
            <a:ext cx="685440" cy="6854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19" name="Image 0" descr="icon"/>
          <p:cNvPicPr/>
          <p:nvPr/>
        </p:nvPicPr>
        <p:blipFill>
          <a:blip r:embed="rId1"/>
          <a:stretch/>
        </p:blipFill>
        <p:spPr>
          <a:xfrm>
            <a:off x="1046880" y="21898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20" name="Text 3"/>
          <p:cNvSpPr/>
          <p:nvPr/>
        </p:nvSpPr>
        <p:spPr>
          <a:xfrm>
            <a:off x="868680" y="292608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dk1"/>
                </a:solidFill>
                <a:latin typeface="Calibri"/>
              </a:rPr>
              <a:t>Stake in Seed Vault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868680" y="3611880"/>
            <a:ext cx="21484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chemeClr val="dk2"/>
                </a:solidFill>
                <a:latin typeface="Calibri"/>
              </a:rPr>
              <a:t>ClockLend does not run staking. Stake SKR in your Seed Vault Wallet or at stake.solanamobile.com.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card"/>
          <p:cNvSpPr/>
          <p:nvPr/>
        </p:nvSpPr>
        <p:spPr>
          <a:xfrm>
            <a:off x="3420000" y="1737360"/>
            <a:ext cx="2578320" cy="347436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3" name="Shape 6"/>
          <p:cNvSpPr/>
          <p:nvPr/>
        </p:nvSpPr>
        <p:spPr>
          <a:xfrm>
            <a:off x="3648600" y="2011680"/>
            <a:ext cx="685440" cy="68544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6a3d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24" name="Image 1" descr="icon"/>
          <p:cNvPicPr/>
          <p:nvPr/>
        </p:nvPicPr>
        <p:blipFill>
          <a:blip r:embed="rId2"/>
          <a:stretch/>
        </p:blipFill>
        <p:spPr>
          <a:xfrm>
            <a:off x="3826800" y="21898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25" name="Text 7"/>
          <p:cNvSpPr/>
          <p:nvPr/>
        </p:nvSpPr>
        <p:spPr>
          <a:xfrm>
            <a:off x="3648600" y="292608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dk1"/>
                </a:solidFill>
                <a:latin typeface="Calibri"/>
              </a:rPr>
              <a:t>Pay less interest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8"/>
          <p:cNvSpPr/>
          <p:nvPr/>
        </p:nvSpPr>
        <p:spPr>
          <a:xfrm>
            <a:off x="3648600" y="3611880"/>
            <a:ext cx="21484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defRPr sz="1300">
                <a:latin typeface="Calibri"/>
              </a:defRPr>
            </a:pPr>
            <a:r>
              <a:rPr b="0" lang="en-US" sz="1350" spc="-1" strike="noStrike">
                <a:solidFill>
                  <a:schemeClr val="dk2"/>
                </a:solidFill>
                <a:latin typeface="Calibri"/>
              </a:rPr>
              <a:t>ClockLend reads your staked SKR and gives up to 25% off your interest rate: 1% off at 100 SKR, sliding to 25% off at 10,000.</a:t>
            </a:r>
          </a:p>
        </p:txBody>
      </p:sp>
      <p:sp>
        <p:nvSpPr>
          <p:cNvPr id="227" name="card"/>
          <p:cNvSpPr/>
          <p:nvPr/>
        </p:nvSpPr>
        <p:spPr>
          <a:xfrm>
            <a:off x="6199560" y="1737360"/>
            <a:ext cx="2578320" cy="347436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8" name="Shape 10"/>
          <p:cNvSpPr/>
          <p:nvPr/>
        </p:nvSpPr>
        <p:spPr>
          <a:xfrm>
            <a:off x="6428160" y="2011680"/>
            <a:ext cx="685440" cy="68544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18c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29" name="Image 2" descr="icon"/>
          <p:cNvPicPr/>
          <p:nvPr/>
        </p:nvPicPr>
        <p:blipFill>
          <a:blip r:embed="rId3"/>
          <a:stretch/>
        </p:blipFill>
        <p:spPr>
          <a:xfrm>
            <a:off x="6606720" y="21898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30" name="Text 11"/>
          <p:cNvSpPr/>
          <p:nvPr/>
        </p:nvSpPr>
        <p:spPr>
          <a:xfrm>
            <a:off x="6428160" y="292608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dk1"/>
                </a:solidFill>
                <a:latin typeface="Calibri"/>
              </a:rPr>
              <a:t>Your stake stays yours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2"/>
          <p:cNvSpPr/>
          <p:nvPr/>
        </p:nvSpPr>
        <p:spPr>
          <a:xfrm>
            <a:off x="6428160" y="3611880"/>
            <a:ext cx="21484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chemeClr val="dk2"/>
                </a:solidFill>
                <a:latin typeface="Calibri"/>
              </a:rPr>
              <a:t>Staked SKR stays in Seed Vault. ClockLend only reads your balance and never holds it.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card"/>
          <p:cNvSpPr/>
          <p:nvPr/>
        </p:nvSpPr>
        <p:spPr>
          <a:xfrm>
            <a:off x="8979480" y="1737360"/>
            <a:ext cx="2578320" cy="347436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9208080" y="2011680"/>
            <a:ext cx="685440" cy="6854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34" name="Image 3" descr="icon"/>
          <p:cNvPicPr/>
          <p:nvPr/>
        </p:nvPicPr>
        <p:blipFill>
          <a:blip r:embed="rId4"/>
          <a:stretch/>
        </p:blipFill>
        <p:spPr>
          <a:xfrm>
            <a:off x="9386280" y="21898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35" name="Text 15"/>
          <p:cNvSpPr/>
          <p:nvPr/>
        </p:nvSpPr>
        <p:spPr>
          <a:xfrm>
            <a:off x="9208080" y="292608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dk1"/>
                </a:solidFill>
                <a:latin typeface="Calibri"/>
              </a:rPr>
              <a:t>SKR as collateral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6"/>
          <p:cNvSpPr/>
          <p:nvPr/>
        </p:nvSpPr>
        <p:spPr>
          <a:xfrm>
            <a:off x="9208080" y="3611880"/>
            <a:ext cx="21484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chemeClr val="dk2"/>
                </a:solidFill>
                <a:latin typeface="Calibri"/>
              </a:rPr>
              <a:t>Borrow USDC against SKR (the default) or SOL. Collateral sits in escrow; staking never raises your LTV.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7"/>
          <p:cNvSpPr/>
          <p:nvPr/>
        </p:nvSpPr>
        <p:spPr>
          <a:xfrm>
            <a:off x="640080" y="5440680"/>
            <a:ext cx="10881000" cy="639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8" name="Text 18"/>
          <p:cNvSpPr/>
          <p:nvPr/>
        </p:nvSpPr>
        <p:spPr>
          <a:xfrm>
            <a:off x="640080" y="544068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</a:rPr>
              <a:t>Staking never changes LTV. Each desk sets its own limit, capped at 70% (Genesis Desk: 65%).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sldNum" idx="14"/>
          </p:nvPr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D0B323-BD1C-492E-832D-09A3370DF95A}" type="slidenum">
              <a:rPr b="0" lang="en-US" sz="1100" spc="-1" strike="noStrike">
                <a:solidFill>
                  <a:schemeClr val="dk2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640080" y="45720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Why users come back: the ClockLend loop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card"/>
          <p:cNvSpPr/>
          <p:nvPr/>
        </p:nvSpPr>
        <p:spPr>
          <a:xfrm>
            <a:off x="640080" y="1737360"/>
            <a:ext cx="2578320" cy="347436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" name="Shape 2"/>
          <p:cNvSpPr/>
          <p:nvPr/>
        </p:nvSpPr>
        <p:spPr>
          <a:xfrm>
            <a:off x="868680" y="2011680"/>
            <a:ext cx="685440" cy="6854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4" name="Image 0" descr="icon"/>
          <p:cNvPicPr/>
          <p:nvPr/>
        </p:nvPicPr>
        <p:blipFill>
          <a:blip r:embed="rId1"/>
          <a:stretch/>
        </p:blipFill>
        <p:spPr>
          <a:xfrm>
            <a:off x="1046880" y="21898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45" name="Text 3"/>
          <p:cNvSpPr/>
          <p:nvPr/>
        </p:nvSpPr>
        <p:spPr>
          <a:xfrm>
            <a:off x="868680" y="292608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dk1"/>
                </a:solidFill>
                <a:latin typeface="Calibri"/>
              </a:rPr>
              <a:t>1. Stake in Seed Vault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868680" y="3611880"/>
            <a:ext cx="21484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chemeClr val="dk2"/>
                </a:solidFill>
                <a:latin typeface="Calibri"/>
              </a:rPr>
              <a:t>Stake 100 to 10,000 SKR in your Seed Vault Wallet to unlock a 1% to 25% interest discount.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card"/>
          <p:cNvSpPr/>
          <p:nvPr/>
        </p:nvSpPr>
        <p:spPr>
          <a:xfrm>
            <a:off x="3420000" y="1737360"/>
            <a:ext cx="2578320" cy="347436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" name="Shape 6"/>
          <p:cNvSpPr/>
          <p:nvPr/>
        </p:nvSpPr>
        <p:spPr>
          <a:xfrm>
            <a:off x="3648600" y="2011680"/>
            <a:ext cx="685440" cy="68544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6a3d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9" name="Image 1" descr="icon"/>
          <p:cNvPicPr/>
          <p:nvPr/>
        </p:nvPicPr>
        <p:blipFill>
          <a:blip r:embed="rId2"/>
          <a:stretch/>
        </p:blipFill>
        <p:spPr>
          <a:xfrm>
            <a:off x="3826800" y="21898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50" name="Text 7"/>
          <p:cNvSpPr/>
          <p:nvPr/>
        </p:nvSpPr>
        <p:spPr>
          <a:xfrm>
            <a:off x="3648600" y="292608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dk1"/>
                </a:solidFill>
                <a:latin typeface="Calibri"/>
              </a:rPr>
              <a:t>2. Borrow cheaper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3648600" y="3611880"/>
            <a:ext cx="21484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chemeClr val="dk2"/>
                </a:solidFill>
                <a:latin typeface="Calibri"/>
              </a:rPr>
              <a:t>Pay less on every loan, with collateral held safely in escrow.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card"/>
          <p:cNvSpPr/>
          <p:nvPr/>
        </p:nvSpPr>
        <p:spPr>
          <a:xfrm>
            <a:off x="6199560" y="1737360"/>
            <a:ext cx="2578320" cy="347436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3" name="Shape 10"/>
          <p:cNvSpPr/>
          <p:nvPr/>
        </p:nvSpPr>
        <p:spPr>
          <a:xfrm>
            <a:off x="6428160" y="2011680"/>
            <a:ext cx="685440" cy="68544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18c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4" name="Image 2" descr="icon"/>
          <p:cNvPicPr/>
          <p:nvPr/>
        </p:nvPicPr>
        <p:blipFill>
          <a:blip r:embed="rId3"/>
          <a:stretch/>
        </p:blipFill>
        <p:spPr>
          <a:xfrm>
            <a:off x="6606720" y="21898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55" name="Text 11"/>
          <p:cNvSpPr/>
          <p:nvPr/>
        </p:nvSpPr>
        <p:spPr>
          <a:xfrm>
            <a:off x="6428160" y="292608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dk1"/>
                </a:solidFill>
                <a:latin typeface="Calibri"/>
              </a:rPr>
              <a:t>3. Repay on time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6428160" y="3611880"/>
            <a:ext cx="21484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chemeClr val="dk2"/>
                </a:solidFill>
                <a:latin typeface="Calibri"/>
              </a:rPr>
              <a:t>Each on-time repayment is recorded in your on-chain credit ranking.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card"/>
          <p:cNvSpPr/>
          <p:nvPr/>
        </p:nvSpPr>
        <p:spPr>
          <a:xfrm>
            <a:off x="8979480" y="1737360"/>
            <a:ext cx="2578320" cy="347436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" name="Shape 14"/>
          <p:cNvSpPr/>
          <p:nvPr/>
        </p:nvSpPr>
        <p:spPr>
          <a:xfrm>
            <a:off x="9208080" y="2011680"/>
            <a:ext cx="685440" cy="6854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9" name="Image 3" descr="icon"/>
          <p:cNvPicPr/>
          <p:nvPr/>
        </p:nvPicPr>
        <p:blipFill>
          <a:blip r:embed="rId4"/>
          <a:stretch/>
        </p:blipFill>
        <p:spPr>
          <a:xfrm>
            <a:off x="9386280" y="21898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60" name="Text 15"/>
          <p:cNvSpPr/>
          <p:nvPr/>
        </p:nvSpPr>
        <p:spPr>
          <a:xfrm>
            <a:off x="9208080" y="292608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dk1"/>
                </a:solidFill>
                <a:latin typeface="Calibri"/>
              </a:rPr>
              <a:t>4. Borrow again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6"/>
          <p:cNvSpPr/>
          <p:nvPr/>
        </p:nvSpPr>
        <p:spPr>
          <a:xfrm>
            <a:off x="9208080" y="3611880"/>
            <a:ext cx="21484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chemeClr val="dk2"/>
                </a:solidFill>
                <a:latin typeface="Calibri"/>
              </a:rPr>
              <a:t>A stronger credit ranking and a lower rate make the next loan easier.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17"/>
          <p:cNvSpPr/>
          <p:nvPr/>
        </p:nvSpPr>
        <p:spPr>
          <a:xfrm>
            <a:off x="640080" y="5440680"/>
            <a:ext cx="10881000" cy="639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" name="Text 18"/>
          <p:cNvSpPr/>
          <p:nvPr/>
        </p:nvSpPr>
        <p:spPr>
          <a:xfrm>
            <a:off x="640080" y="544068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</a:rPr>
              <a:t>Stake, borrow, repay, repeat: every step gives a reason to come back.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sldNum" idx="11"/>
          </p:nvPr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6AA4CA-384E-4DB8-86EC-ABE0006F70EB}" type="slidenum">
              <a:rPr b="0" lang="en-US" sz="1100" spc="-1" strike="noStrike">
                <a:solidFill>
                  <a:schemeClr val="dk2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640080" y="45720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How it’s built on Solana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640080" y="173736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SEEKER APP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640080" y="2194560"/>
            <a:ext cx="3565800" cy="7311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e6e0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Text 3"/>
          <p:cNvSpPr/>
          <p:nvPr/>
        </p:nvSpPr>
        <p:spPr>
          <a:xfrm>
            <a:off x="640080" y="219456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dk1"/>
                </a:solidFill>
                <a:latin typeface="Calibri"/>
              </a:rPr>
              <a:t>Seed Vault and Mobile Wallet Adapter signing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640080" y="29444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Calibri"/>
              </a:rPr>
              <a:t>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640080" y="3337560"/>
            <a:ext cx="3565800" cy="7311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e6e0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Text 6"/>
          <p:cNvSpPr/>
          <p:nvPr/>
        </p:nvSpPr>
        <p:spPr>
          <a:xfrm>
            <a:off x="640080" y="333756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dk1"/>
                </a:solidFill>
                <a:latin typeface="Calibri"/>
              </a:rPr>
              <a:t>Live countdown, alerts and one-tap repay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640080" y="40874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Calibri"/>
              </a:rPr>
              <a:t>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640080" y="4480560"/>
            <a:ext cx="3565800" cy="7311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e6e0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Text 9"/>
          <p:cNvSpPr/>
          <p:nvPr/>
        </p:nvSpPr>
        <p:spPr>
          <a:xfrm>
            <a:off x="640080" y="448056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Mainnet RPC with automatic failover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4434840" y="173736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ON-CHAIN PROGRAM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4434840" y="2194560"/>
            <a:ext cx="3565800" cy="73116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rgbClr val="0b1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4434840" y="219456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Escrow and desk vault accounts (PDAs)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4434840" y="29444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Calibri"/>
              </a:rPr>
              <a:t>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4"/>
          <p:cNvSpPr/>
          <p:nvPr/>
        </p:nvSpPr>
        <p:spPr>
          <a:xfrm>
            <a:off x="4434840" y="3337560"/>
            <a:ext cx="3565800" cy="73116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rgbClr val="0b1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4434840" y="333756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Loan states: Active, 24h grace, Defaulted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4434840" y="40874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Calibri"/>
              </a:rPr>
              <a:t>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7"/>
          <p:cNvSpPr/>
          <p:nvPr/>
        </p:nvSpPr>
        <p:spPr>
          <a:xfrm>
            <a:off x="4434840" y="4480560"/>
            <a:ext cx="3565800" cy="73116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rgbClr val="0b1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Text 18"/>
          <p:cNvSpPr/>
          <p:nvPr/>
        </p:nvSpPr>
        <p:spPr>
          <a:xfrm>
            <a:off x="4434840" y="448056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SKR collateral and USDC desk vaults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card"/>
          <p:cNvSpPr/>
          <p:nvPr/>
        </p:nvSpPr>
        <p:spPr>
          <a:xfrm>
            <a:off x="8229600" y="2194560"/>
            <a:ext cx="3291480" cy="301716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8503920" y="2468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3"/>
                </a:solidFill>
                <a:latin typeface="Calibri"/>
              </a:rPr>
              <a:t>PRICE KEEPER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8503920" y="2834640"/>
            <a:ext cx="27428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</a:rPr>
              <a:t>Every 3 minutes a keeper writes SOL and SKR prices on-chain from Jupiter, with CoinGecko as backup. If a price is over 10 minutes old, new borrows revert.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22"/>
          <p:cNvSpPr/>
          <p:nvPr/>
        </p:nvSpPr>
        <p:spPr>
          <a:xfrm>
            <a:off x="640080" y="5440680"/>
            <a:ext cx="10881000" cy="685440"/>
          </a:xfrm>
          <a:prstGeom prst="roundRect">
            <a:avLst>
              <a:gd name="adj" fmla="val 49333"/>
            </a:avLst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Text 23"/>
          <p:cNvSpPr/>
          <p:nvPr/>
        </p:nvSpPr>
        <p:spPr>
          <a:xfrm>
            <a:off x="640080" y="54406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</a:rPr>
              <a:t>Native Rust · 122 on-chain tests · mainnet build verified byte-for-byte against the repo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sldNum" idx="6"/>
          </p:nvPr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C45896-090C-4746-BC44-7B859FBD9C8C}" type="slidenum">
              <a:rPr b="0" lang="en-US" sz="1100" spc="-1" strike="noStrike">
                <a:solidFill>
                  <a:schemeClr val="dk2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640080" y="45720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Proof on mainnet: check it yourself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card"/>
          <p:cNvSpPr/>
          <p:nvPr/>
        </p:nvSpPr>
        <p:spPr>
          <a:xfrm>
            <a:off x="640080" y="1737360"/>
            <a:ext cx="3474360" cy="329148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914400" y="2011680"/>
            <a:ext cx="731160" cy="7311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f5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8" name="Image 0" descr="icon"/>
          <p:cNvPicPr/>
          <p:nvPr/>
        </p:nvPicPr>
        <p:blipFill>
          <a:blip r:embed="rId1"/>
          <a:stretch/>
        </p:blipFill>
        <p:spPr>
          <a:xfrm>
            <a:off x="1104480" y="2201760"/>
            <a:ext cx="350640" cy="350640"/>
          </a:xfrm>
          <a:prstGeom prst="rect">
            <a:avLst/>
          </a:prstGeom>
          <a:ln w="0">
            <a:noFill/>
          </a:ln>
        </p:spPr>
      </p:pic>
      <p:sp>
        <p:nvSpPr>
          <p:cNvPr id="169" name="Text 3"/>
          <p:cNvSpPr/>
          <p:nvPr/>
        </p:nvSpPr>
        <p:spPr>
          <a:xfrm>
            <a:off x="914400" y="292608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chemeClr val="dk1"/>
                </a:solidFill>
                <a:latin typeface="Calibri"/>
              </a:rPr>
              <a:t>Verified program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914400" y="3657600"/>
            <a:ext cx="29257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4Dp2A6SH…NHgv7. The mainnet build matches this repo byte-for-byte (sha256 cac19e08…, Oct 7).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card"/>
          <p:cNvSpPr/>
          <p:nvPr/>
        </p:nvSpPr>
        <p:spPr>
          <a:xfrm>
            <a:off x="4343400" y="1737360"/>
            <a:ext cx="3474360" cy="329148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" name="Shape 6"/>
          <p:cNvSpPr/>
          <p:nvPr/>
        </p:nvSpPr>
        <p:spPr>
          <a:xfrm>
            <a:off x="4617720" y="2011680"/>
            <a:ext cx="731160" cy="7311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6a3d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3" name="Image 1" descr="icon"/>
          <p:cNvPicPr/>
          <p:nvPr/>
        </p:nvPicPr>
        <p:blipFill>
          <a:blip r:embed="rId2"/>
          <a:stretch/>
        </p:blipFill>
        <p:spPr>
          <a:xfrm>
            <a:off x="4807800" y="2201760"/>
            <a:ext cx="350640" cy="350640"/>
          </a:xfrm>
          <a:prstGeom prst="rect">
            <a:avLst/>
          </a:prstGeom>
          <a:ln w="0">
            <a:noFill/>
          </a:ln>
        </p:spPr>
      </p:pic>
      <p:sp>
        <p:nvSpPr>
          <p:cNvPr id="174" name="Text 7"/>
          <p:cNvSpPr/>
          <p:nvPr/>
        </p:nvSpPr>
        <p:spPr>
          <a:xfrm>
            <a:off x="4617720" y="292608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chemeClr val="dk1"/>
                </a:solidFill>
                <a:latin typeface="Calibri"/>
              </a:rPr>
              <a:t>Genesis Desk #2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4617720" y="3657600"/>
            <a:ext cx="29257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Calibri"/>
              </a:rPr>
              <a:t>$50.02 USDC at 8% APR and 65% LTV. One loan originated and repaid on Seeker hardware.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card"/>
          <p:cNvSpPr/>
          <p:nvPr/>
        </p:nvSpPr>
        <p:spPr>
          <a:xfrm>
            <a:off x="8046720" y="1737360"/>
            <a:ext cx="3474360" cy="329148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7" name="Shape 10"/>
          <p:cNvSpPr/>
          <p:nvPr/>
        </p:nvSpPr>
        <p:spPr>
          <a:xfrm>
            <a:off x="8321040" y="2011680"/>
            <a:ext cx="731160" cy="73116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18c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8" name="Image 2" descr="icon"/>
          <p:cNvPicPr/>
          <p:nvPr/>
        </p:nvPicPr>
        <p:blipFill>
          <a:blip r:embed="rId3"/>
          <a:stretch/>
        </p:blipFill>
        <p:spPr>
          <a:xfrm>
            <a:off x="8511120" y="2201760"/>
            <a:ext cx="350640" cy="350640"/>
          </a:xfrm>
          <a:prstGeom prst="rect">
            <a:avLst/>
          </a:prstGeom>
          <a:ln w="0">
            <a:noFill/>
          </a:ln>
        </p:spPr>
      </p:pic>
      <p:sp>
        <p:nvSpPr>
          <p:cNvPr id="179" name="Text 11"/>
          <p:cNvSpPr/>
          <p:nvPr/>
        </p:nvSpPr>
        <p:spPr>
          <a:xfrm>
            <a:off x="8321040" y="292608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chemeClr val="dk1"/>
                </a:solidFill>
                <a:latin typeface="Calibri"/>
              </a:rPr>
              <a:t>Revenue flowing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8321040" y="3657600"/>
            <a:ext cx="29257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defRPr sz="1400">
                <a:latin typeface="Calibri"/>
              </a:defRPr>
            </a:pPr>
            <a:r>
              <a:t>The protocol treasury holds $0.0040 USDC from that loan.</a:t>
            </a:r>
          </a:p>
        </p:txBody>
      </p:sp>
      <p:sp>
        <p:nvSpPr>
          <p:cNvPr id="181" name="Shape 13"/>
          <p:cNvSpPr/>
          <p:nvPr/>
        </p:nvSpPr>
        <p:spPr>
          <a:xfrm>
            <a:off x="640080" y="5349240"/>
            <a:ext cx="10881000" cy="685440"/>
          </a:xfrm>
          <a:prstGeom prst="roundRect">
            <a:avLst>
              <a:gd name="adj" fmla="val 49333"/>
            </a:avLst>
          </a:prstGeom>
          <a:solidFill>
            <a:schemeClr val="tx1"/>
          </a:solidFill>
          <a:ln w="12700">
            <a:solidFill>
              <a:srgbClr val="0b1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2" name="Text 14"/>
          <p:cNvSpPr/>
          <p:nvPr/>
        </p:nvSpPr>
        <p:spPr>
          <a:xfrm>
            <a:off x="640080" y="534924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</a:rPr>
              <a:t>solscan.io/account/4Dp2A6SHQHEpuoMT4GuzZnnpLcDYrJnpELm1UjuNHgv7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sldNum" idx="12"/>
          </p:nvPr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8E7E00-D4C8-43A7-B528-47FD1309C6B8}" type="slidenum">
              <a:rPr b="0" lang="en-US" sz="1100" spc="-1" strike="noStrike">
                <a:solidFill>
                  <a:schemeClr val="dk2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0"/>
          <p:cNvSpPr/>
          <p:nvPr/>
        </p:nvSpPr>
        <p:spPr>
          <a:xfrm>
            <a:off x="640080" y="45720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Roadmap: from verified program to active lending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card"/>
          <p:cNvSpPr/>
          <p:nvPr/>
        </p:nvSpPr>
        <p:spPr>
          <a:xfrm>
            <a:off x="640080" y="1737360"/>
            <a:ext cx="3474360" cy="141696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2" name="Text 2"/>
          <p:cNvSpPr/>
          <p:nvPr/>
        </p:nvSpPr>
        <p:spPr>
          <a:xfrm>
            <a:off x="914400" y="1828800"/>
            <a:ext cx="2925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/>
                </a:solidFill>
                <a:latin typeface="Calibri"/>
              </a:rPr>
              <a:t>Live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3"/>
          <p:cNvSpPr/>
          <p:nvPr/>
        </p:nvSpPr>
        <p:spPr>
          <a:xfrm>
            <a:off x="914400" y="25603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defRPr sz="1350">
                <a:latin typeface="Calibri"/>
              </a:defRPr>
            </a:pPr>
            <a:r>
              <a:t>on Solana mainnet, Genesis Desk #2 active</a:t>
            </a:r>
          </a:p>
        </p:txBody>
      </p:sp>
      <p:sp>
        <p:nvSpPr>
          <p:cNvPr id="244" name="card"/>
          <p:cNvSpPr/>
          <p:nvPr/>
        </p:nvSpPr>
        <p:spPr>
          <a:xfrm>
            <a:off x="4343400" y="1737360"/>
            <a:ext cx="3474360" cy="141696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5" name="Text 5"/>
          <p:cNvSpPr/>
          <p:nvPr/>
        </p:nvSpPr>
        <p:spPr>
          <a:xfrm>
            <a:off x="4617720" y="1828800"/>
            <a:ext cx="2925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defRPr sz="3800" b="1">
                <a:solidFill>
                  <a:srgbClr val="2563EB"/>
                </a:solidFill>
                <a:latin typeface="Calibri"/>
              </a:defRPr>
            </a:pPr>
            <a:r>
              <a:t>$50.02</a:t>
            </a:r>
          </a:p>
        </p:txBody>
      </p:sp>
      <p:sp>
        <p:nvSpPr>
          <p:cNvPr id="246" name="Text 6"/>
          <p:cNvSpPr/>
          <p:nvPr/>
        </p:nvSpPr>
        <p:spPr>
          <a:xfrm>
            <a:off x="4617720" y="25603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defRPr sz="1350">
                <a:latin typeface="Calibri"/>
              </a:defRPr>
            </a:pPr>
            <a:r>
              <a:t>USDC live liquidity · 100% repaid (1/1)</a:t>
            </a:r>
          </a:p>
        </p:txBody>
      </p:sp>
      <p:sp>
        <p:nvSpPr>
          <p:cNvPr id="247" name="card"/>
          <p:cNvSpPr/>
          <p:nvPr/>
        </p:nvSpPr>
        <p:spPr>
          <a:xfrm>
            <a:off x="8046720" y="1737360"/>
            <a:ext cx="3474360" cy="141696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8" name="Text 8"/>
          <p:cNvSpPr/>
          <p:nvPr/>
        </p:nvSpPr>
        <p:spPr>
          <a:xfrm>
            <a:off x="8321040" y="1828800"/>
            <a:ext cx="2925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defRPr sz="3800" b="1">
                <a:solidFill>
                  <a:srgbClr val="2563EB"/>
                </a:solidFill>
                <a:latin typeface="Calibri"/>
              </a:defRPr>
            </a:pPr>
            <a:r>
              <a:t>122</a:t>
            </a:r>
          </a:p>
        </p:txBody>
      </p:sp>
      <p:sp>
        <p:nvSpPr>
          <p:cNvPr id="249" name="Text 9"/>
          <p:cNvSpPr/>
          <p:nvPr/>
        </p:nvSpPr>
        <p:spPr>
          <a:xfrm>
            <a:off x="8321040" y="25603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defRPr sz="1350">
                <a:latin typeface="Calibri"/>
              </a:defRPr>
            </a:pPr>
            <a:r>
              <a:t>on-chain test functions · 14 internal review rounds</a:t>
            </a:r>
          </a:p>
        </p:txBody>
      </p:sp>
      <p:sp>
        <p:nvSpPr>
          <p:cNvPr id="250" name="card"/>
          <p:cNvSpPr/>
          <p:nvPr/>
        </p:nvSpPr>
        <p:spPr>
          <a:xfrm>
            <a:off x="640080" y="3383280"/>
            <a:ext cx="3474360" cy="214848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1" name="Shape 11"/>
          <p:cNvSpPr/>
          <p:nvPr/>
        </p:nvSpPr>
        <p:spPr>
          <a:xfrm>
            <a:off x="914400" y="3611880"/>
            <a:ext cx="868320" cy="365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2" name="Text 12"/>
          <p:cNvSpPr/>
          <p:nvPr/>
        </p:nvSpPr>
        <p:spPr>
          <a:xfrm>
            <a:off x="914400" y="3611880"/>
            <a:ext cx="868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</a:rPr>
              <a:t>NOW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13"/>
          <p:cNvSpPr/>
          <p:nvPr/>
        </p:nvSpPr>
        <p:spPr>
          <a:xfrm>
            <a:off x="914400" y="411480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Harden the foundation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14"/>
          <p:cNvSpPr/>
          <p:nvPr/>
        </p:nvSpPr>
        <p:spPr>
          <a:xfrm>
            <a:off x="914400" y="457200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4a527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chemeClr val="dk2"/>
                </a:solidFill>
                <a:latin typeface="Calibri"/>
              </a:rPr>
              <a:t>Live Genesis Desk #2 ($50.02 USDC)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4a527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chemeClr val="dk2"/>
                </a:solidFill>
                <a:latin typeface="Calibri"/>
              </a:rPr>
              <a:t>Price keeper live (3-min updates)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4a527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chemeClr val="dk2"/>
                </a:solidFill>
                <a:latin typeface="Calibri"/>
              </a:rPr>
              <a:t>Independent audit: not yet done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card"/>
          <p:cNvSpPr/>
          <p:nvPr/>
        </p:nvSpPr>
        <p:spPr>
          <a:xfrm>
            <a:off x="4343400" y="3383280"/>
            <a:ext cx="3474360" cy="214848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6" name="Shape 16"/>
          <p:cNvSpPr/>
          <p:nvPr/>
        </p:nvSpPr>
        <p:spPr>
          <a:xfrm>
            <a:off x="4617720" y="3611880"/>
            <a:ext cx="868320" cy="36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7" name="Text 17"/>
          <p:cNvSpPr/>
          <p:nvPr/>
        </p:nvSpPr>
        <p:spPr>
          <a:xfrm>
            <a:off x="4617720" y="3611880"/>
            <a:ext cx="868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</a:rPr>
              <a:t>NEXT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18"/>
          <p:cNvSpPr/>
          <p:nvPr/>
        </p:nvSpPr>
        <p:spPr>
          <a:xfrm>
            <a:off x="4617720" y="411480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Activate the marketplace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9"/>
          <p:cNvSpPr/>
          <p:nvPr/>
        </p:nvSpPr>
        <p:spPr>
          <a:xfrm>
            <a:off x="4617720" y="457200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4a527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chemeClr val="dk2"/>
                </a:solidFill>
                <a:latin typeface="Calibri"/>
              </a:rPr>
              <a:t>Onboard lending desks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4a527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chemeClr val="dk2"/>
                </a:solidFill>
                <a:latin typeface="Calibri"/>
              </a:rPr>
              <a:t>Bring in borrowers and lenders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4a527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chemeClr val="dk2"/>
                </a:solidFill>
                <a:latin typeface="Calibri"/>
              </a:rPr>
              <a:t>Complete an independent audit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card"/>
          <p:cNvSpPr/>
          <p:nvPr/>
        </p:nvSpPr>
        <p:spPr>
          <a:xfrm>
            <a:off x="8046720" y="3383280"/>
            <a:ext cx="3474360" cy="214848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algn="bl" blurRad="177840" dir="5400000" dist="38160" kx="0" ky="0" rotWithShape="0" sx="100000" sy="100000">
              <a:srgbClr val="0b103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1" name="Shape 21"/>
          <p:cNvSpPr/>
          <p:nvPr/>
        </p:nvSpPr>
        <p:spPr>
          <a:xfrm>
            <a:off x="8321040" y="3611880"/>
            <a:ext cx="868320" cy="36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2" name="Text 22"/>
          <p:cNvSpPr/>
          <p:nvPr/>
        </p:nvSpPr>
        <p:spPr>
          <a:xfrm>
            <a:off x="8321040" y="3611880"/>
            <a:ext cx="868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</a:rPr>
              <a:t>THEN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23"/>
          <p:cNvSpPr/>
          <p:nvPr/>
        </p:nvSpPr>
        <p:spPr>
          <a:xfrm>
            <a:off x="8321040" y="411480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Grow the ecosystem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24"/>
          <p:cNvSpPr/>
          <p:nvPr/>
        </p:nvSpPr>
        <p:spPr>
          <a:xfrm>
            <a:off x="8321040" y="457200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4a527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chemeClr val="dk2"/>
                </a:solidFill>
                <a:latin typeface="Calibri"/>
              </a:rPr>
              <a:t>Grow Seeker adoption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4a527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chemeClr val="dk2"/>
                </a:solidFill>
                <a:latin typeface="Calibri"/>
              </a:rPr>
              <a:t>Add more desks and Circles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4a527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chemeClr val="dk2"/>
                </a:solidFill>
                <a:latin typeface="Calibri"/>
              </a:rPr>
              <a:t>Partner with Solana Mobile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25"/>
          <p:cNvSpPr/>
          <p:nvPr/>
        </p:nvSpPr>
        <p:spPr>
          <a:xfrm>
            <a:off x="640080" y="5720000"/>
            <a:ext cx="10881000" cy="520000"/>
          </a:xfrm>
          <a:prstGeom prst="roundRect">
            <a:avLst/>
          </a:prstGeom>
          <a:noFill/>
          <a:solidFill>
            <a:schemeClr val="tx1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  <a:defRPr sz="1350" b="1">
                <a:solidFill>
                  <a:srgbClr val="FFFFFF"/>
                </a:solidFill>
                <a:latin typeface="Calibri"/>
              </a:defRPr>
            </a:pPr>
            <a:r>
              <a:t>Mainnet Traction: $50.02 USDC Desk Liquidity · 8% APR · 100% Repaid (1/1) · 5 Early Users · Live Lender Yield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6" name="PlaceHolder 1"/>
          <p:cNvSpPr>
            <a:spLocks noGrp="1"/>
          </p:cNvSpPr>
          <p:nvPr>
            <p:ph type="sldNum" idx="15"/>
          </p:nvPr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0B213F-2C21-4633-8B27-3ACD6F3EDEFA}" type="slidenum">
              <a:rPr b="0" lang="en-US" sz="1100" spc="-1" strike="noStrike">
                <a:solidFill>
                  <a:schemeClr val="dk2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0"/>
          <p:cNvSpPr/>
          <p:nvPr/>
        </p:nvSpPr>
        <p:spPr>
          <a:xfrm>
            <a:off x="7680960" y="-1097280"/>
            <a:ext cx="5486040" cy="5486040"/>
          </a:xfrm>
          <a:prstGeom prst="ellipse">
            <a:avLst/>
          </a:prstGeom>
          <a:solidFill>
            <a:srgbClr val="1d1a63"/>
          </a:solidFill>
          <a:ln w="12700">
            <a:solidFill>
              <a:srgbClr val="1d1a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68" name="Image 0" descr="ClockLend logo"/>
          <p:cNvPicPr/>
          <p:nvPr/>
        </p:nvPicPr>
        <p:blipFill>
          <a:blip r:embed="rId1"/>
          <a:stretch/>
        </p:blipFill>
        <p:spPr>
          <a:xfrm>
            <a:off x="731520" y="731520"/>
            <a:ext cx="868320" cy="859320"/>
          </a:xfrm>
          <a:prstGeom prst="rect">
            <a:avLst/>
          </a:prstGeom>
          <a:ln w="0">
            <a:noFill/>
          </a:ln>
        </p:spPr>
      </p:pic>
      <p:sp>
        <p:nvSpPr>
          <p:cNvPr id="269" name="Text 1"/>
          <p:cNvSpPr/>
          <p:nvPr/>
        </p:nvSpPr>
        <p:spPr>
          <a:xfrm>
            <a:off x="731520" y="2103120"/>
            <a:ext cx="7314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chemeClr val="lt1"/>
                </a:solidFill>
                <a:latin typeface="Calibri"/>
              </a:rPr>
              <a:t>Meet the founder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2"/>
          <p:cNvSpPr/>
          <p:nvPr/>
        </p:nvSpPr>
        <p:spPr>
          <a:xfrm>
            <a:off x="731520" y="3200400"/>
            <a:ext cx="8686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Mobile-first lending built for the Solana Mobile ecosystem.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3"/>
          <p:cNvSpPr/>
          <p:nvPr/>
        </p:nvSpPr>
        <p:spPr>
          <a:xfrm>
            <a:off x="1911520" y="3913560"/>
            <a:ext cx="245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3"/>
                </a:solidFill>
                <a:latin typeface="Calibri"/>
              </a:rPr>
              <a:t>FOUNDER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4"/>
          <p:cNvSpPr/>
          <p:nvPr/>
        </p:nvSpPr>
        <p:spPr>
          <a:xfrm>
            <a:off x="1911520" y="4224600"/>
            <a:ext cx="245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</a:rPr>
              <a:t>Bughacker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5"/>
          <p:cNvSpPr/>
          <p:nvPr/>
        </p:nvSpPr>
        <p:spPr>
          <a:xfrm>
            <a:off x="1911520" y="4681800"/>
            <a:ext cx="2450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2"/>
                </a:solidFill>
                <a:latin typeface="Calibri"/>
              </a:rPr>
              <a:t>Founder · Offensive Security Engineer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1" name="Bughacker photo" descr="Bughacker phot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4020000"/>
            <a:ext cx="1000000" cy="1000000"/>
          </a:xfrm>
          <a:prstGeom prst="ellipse">
            <a:avLst/>
          </a:prstGeom>
        </p:spPr>
      </p:pic>
      <p:sp>
        <p:nvSpPr>
          <p:cNvPr id="279" name="TextBox 15"/>
          <p:cNvSpPr/>
          <p:nvPr/>
        </p:nvSpPr>
        <p:spPr>
          <a:xfrm>
            <a:off x="4366800" y="5989320"/>
            <a:ext cx="3061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Code: github.com/luckysitara/ClockLend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Box 1"/>
          <p:cNvSpPr/>
          <p:nvPr/>
        </p:nvSpPr>
        <p:spPr>
          <a:xfrm>
            <a:off x="731520" y="1234440"/>
            <a:ext cx="105152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ClockLend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Box 2"/>
          <p:cNvSpPr/>
          <p:nvPr/>
        </p:nvSpPr>
        <p:spPr>
          <a:xfrm>
            <a:off x="731520" y="2331720"/>
            <a:ext cx="10515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000" spc="-1" strike="noStrike">
                <a:solidFill>
                  <a:srgbClr val="69beff"/>
                </a:solidFill>
                <a:latin typeface="Calibri"/>
              </a:rPr>
              <a:t>Your Crypto. Your Liquidity. Your Time.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Box 3"/>
          <p:cNvSpPr/>
          <p:nvPr/>
        </p:nvSpPr>
        <p:spPr>
          <a:xfrm>
            <a:off x="1097280" y="3200400"/>
            <a:ext cx="9783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e1e8f5"/>
                </a:solidFill>
                <a:latin typeface="Calibri"/>
              </a:rPr>
              <a:t>Join us in reshaping Web3 credit on Solana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Box 4"/>
          <p:cNvSpPr/>
          <p:nvPr/>
        </p:nvSpPr>
        <p:spPr>
          <a:xfrm>
            <a:off x="914400" y="4389120"/>
            <a:ext cx="10332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TRY THE PROTOTYPE  ·  REVIEW THE CODE  ·  BUILD WITH US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Box 5"/>
          <p:cNvSpPr/>
          <p:nvPr/>
        </p:nvSpPr>
        <p:spPr>
          <a:xfrm>
            <a:off x="914400" y="4983480"/>
            <a:ext cx="10332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500" spc="-1" strike="noStrike">
                <a:solidFill>
                  <a:srgbClr val="69beff"/>
                </a:solidFill>
                <a:latin typeface="Calibri"/>
              </a:rPr>
              <a:t>github.com/luckysitara/ClockLend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lockLend">
  <a:themeElements>
    <a:clrScheme name="ClockLend">
      <a:dk1>
        <a:srgbClr val="0b1030"/>
      </a:dk1>
      <a:lt1>
        <a:srgbClr val="ffffff"/>
      </a:lt1>
      <a:dk2>
        <a:srgbClr val="4a5275"/>
      </a:dk2>
      <a:lt2>
        <a:srgbClr val="faf7ee"/>
      </a:lt2>
      <a:accent1>
        <a:srgbClr val="2f5bff"/>
      </a:accent1>
      <a:accent2>
        <a:srgbClr val="6a3df0"/>
      </a:accent2>
      <a:accent3>
        <a:srgbClr val="18c4ee"/>
      </a:accent3>
      <a:accent4>
        <a:srgbClr val="e6e0cf"/>
      </a:accent4>
      <a:accent5>
        <a:srgbClr val="d6453d"/>
      </a:accent5>
      <a:accent6>
        <a:srgbClr val="1e9e68"/>
      </a:accent6>
      <a:hlink>
        <a:srgbClr val="2f5bff"/>
      </a:hlink>
      <a:folHlink>
        <a:srgbClr val="6a3df0"/>
      </a:folHlink>
    </a:clrScheme>
    <a:fontScheme name="ClockLend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ockLend">
  <a:themeElements>
    <a:clrScheme name="ClockLend">
      <a:dk1>
        <a:srgbClr val="0b1030"/>
      </a:dk1>
      <a:lt1>
        <a:srgbClr val="ffffff"/>
      </a:lt1>
      <a:dk2>
        <a:srgbClr val="4a5275"/>
      </a:dk2>
      <a:lt2>
        <a:srgbClr val="faf7ee"/>
      </a:lt2>
      <a:accent1>
        <a:srgbClr val="2f5bff"/>
      </a:accent1>
      <a:accent2>
        <a:srgbClr val="6a3df0"/>
      </a:accent2>
      <a:accent3>
        <a:srgbClr val="18c4ee"/>
      </a:accent3>
      <a:accent4>
        <a:srgbClr val="e6e0cf"/>
      </a:accent4>
      <a:accent5>
        <a:srgbClr val="d6453d"/>
      </a:accent5>
      <a:accent6>
        <a:srgbClr val="1e9e68"/>
      </a:accent6>
      <a:hlink>
        <a:srgbClr val="2f5bff"/>
      </a:hlink>
      <a:folHlink>
        <a:srgbClr val="6a3df0"/>
      </a:folHlink>
    </a:clrScheme>
    <a:fontScheme name="ClockLend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lockLend">
  <a:themeElements>
    <a:clrScheme name="ClockLend">
      <a:dk1>
        <a:srgbClr val="0b1030"/>
      </a:dk1>
      <a:lt1>
        <a:srgbClr val="ffffff"/>
      </a:lt1>
      <a:dk2>
        <a:srgbClr val="4a5275"/>
      </a:dk2>
      <a:lt2>
        <a:srgbClr val="faf7ee"/>
      </a:lt2>
      <a:accent1>
        <a:srgbClr val="2f5bff"/>
      </a:accent1>
      <a:accent2>
        <a:srgbClr val="6a3df0"/>
      </a:accent2>
      <a:accent3>
        <a:srgbClr val="18c4ee"/>
      </a:accent3>
      <a:accent4>
        <a:srgbClr val="e6e0cf"/>
      </a:accent4>
      <a:accent5>
        <a:srgbClr val="d6453d"/>
      </a:accent5>
      <a:accent6>
        <a:srgbClr val="1e9e68"/>
      </a:accent6>
      <a:hlink>
        <a:srgbClr val="2f5bff"/>
      </a:hlink>
      <a:folHlink>
        <a:srgbClr val="6a3df0"/>
      </a:folHlink>
    </a:clrScheme>
    <a:fontScheme name="ClockLend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2026-10-06T20:27:43Z</dcterms:created>
  <dc:creator>ClockLend</dc:creator>
  <dc:description/>
  <dc:language>en-US</dc:language>
  <cp:lastModifiedBy/>
  <dcterms:modified xsi:type="dcterms:W3CDTF">2026-10-09T00:28:20Z</dcterms:modified>
  <cp:revision>2</cp:revision>
  <dc:subject>PptxGenJS Presentation</dc:subject>
  <dc:title>ClockLend Investor Pitch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