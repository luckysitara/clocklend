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(Slide 1):</a:t>
            </a:r>
          </a:p>
          <a:p>
            <a:r>
              <a:t>"ClockLend. We took how people actually lend to each other — friends, circles, marketplaces — and put it on-chain, on the Seeker. It is live on Solana mainnet. In the next seven minutes: the problem, the product, the proof, and why this deserves both prizes."</a:t>
            </a:r>
          </a:p>
          <a:p>
            <a:r>
              <a:t>Objection Prep:</a:t>
            </a:r>
          </a:p>
          <a:p>
            <a:r>
              <a:t>- Program ID: HAjGxuih14imCMaWvCnJQ3nSdWmS8PQKzp74gyAgjsH3</a:t>
            </a:r>
          </a:p>
          <a:p>
            <a:r>
              <a:t>- Cluster: Solana Mainnet-Beta (and Devnet)</a:t>
            </a:r>
          </a:p>
          <a:p>
            <a:r>
              <a:t>- Hardware: Solana Seeker (Android 14)</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(Slide 2):</a:t>
            </a:r>
          </a:p>
          <a:p>
            <a:r>
              <a:t>"Two worlds: DeFi demands 150%+ collateral and liquidates you with bots. Informal credit — chit funds, ROSCAs, lending circles — runs hundreds of billions a year on pure trust, with zero security and zero records. Neither has both. That is the gap ClockLend fills."</a:t>
            </a:r>
          </a:p>
          <a:p/>
          <a:p>
            <a:r>
              <a:t>Objection Prep:</a:t>
            </a:r>
          </a:p>
          <a:p>
            <a:r>
              <a:t>If asked: "Why not just use Aave or Kamino?"</a:t>
            </a:r>
          </a:p>
          <a:p>
            <a:r>
              <a:t>Answer: They serve institutional whale collateral with algorithmic liquidation bots. We serve mobile peer-to-peer social credit with on-chain collateral security and a 24-hour social grace period. We don't compete with pooled institutional lending; we unlock an entirely untouched consumer category.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(Slide 3):</a:t>
            </a:r>
          </a:p>
          <a:p>
            <a:r>
              <a:t>"Three marketplaces, one app. Express matches you to the cheapest desk in one tap. Desks let merchants and communities lend their own capital with their own rules. The pawn deck is pure 1:1 peer lending. And the settlement layer is human: a ticking countdown clock on every loan, and a 24-hour social grace window where your circle — not a bot — gets first rights to rescue."</a:t>
            </a:r>
          </a:p>
          <a:p>
            <a:r>
              <a:t>Objection Prep:</a:t>
            </a:r>
          </a:p>
          <a:p>
            <a:r>
              <a:t>- How does the 24h grace period work? After loan maturity, the borrower gets 24 hours to repay. During this time, friends or circle members can step in to repay and rescue the collateral. Liquidation only executes after grace expiry.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(Slide 4):</a:t>
            </a:r>
          </a:p>
          <a:p>
            <a:r>
              <a:t>"This screenshot is the actual app running on a Solana Seeker — not an emulator. After this deck, the video shows the same flows in motion, and then I hand you the phone. If you want, we take a live borrow on mainnet right now."</a:t>
            </a:r>
          </a:p>
          <a:p>
            <a:r>
              <a:t>Live test device on table:</a:t>
            </a:r>
          </a:p>
          <a:p>
            <a:r>
              <a:t>- Model: Solana Seeker (Device ID: SM02G40619122247)</a:t>
            </a:r>
          </a:p>
          <a:p>
            <a:r>
              <a:t>- App: ClockLend Android Release Build (PID 28297)</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(Slide 5):</a:t>
            </a:r>
          </a:p>
          <a:p>
            <a:r>
              <a:t>"The crypto necessity test: strip the chain and the escrow becomes a handshake — no atomic lock, no enforcement, no portable credit history. Strip the Seeker and the one-tap Seed Vault signing disappears, and so does the market: mobile-first users need a mobile-first lender."</a:t>
            </a:r>
          </a:p>
          <a:p>
            <a:r>
              <a:t>Objection Prep:</a:t>
            </a:r>
          </a:p>
          <a:p>
            <a:r>
              <a:t>"Why not a Web2 app like Venmo or Affirm?"</a:t>
            </a:r>
          </a:p>
          <a:p>
            <a:r>
              <a:t>Answer: Web2 requires bank rails, central custody of collateral, and debt collection agencies. ClockLend is non-custodial and globally accessible to anyone with a Seeker phone.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(Slide 6):</a:t>
            </a:r>
          </a:p>
          <a:p>
            <a:r>
              <a:t>"Two of this panel's judges are security researchers, so let me be precise: the program went through six independent audit passes, including PoC-driven exploit hunts and a property-based fuzz suite that checks solvency and escrow invariants after every simulated step. Everything found was fixed. The deployed binary is hash-verified on-chain."</a:t>
            </a:r>
          </a:p>
          <a:p>
            <a:r>
              <a:t>Key Remediation Highlights:</a:t>
            </a:r>
          </a:p>
          <a:p>
            <a:r>
              <a:t>- F1 SKR liquidation: Proven with new end-to-end integration tests.</a:t>
            </a:r>
          </a:p>
          <a:p>
            <a:r>
              <a:t>- F3/F4 ProgramData verification: Eliminates any centralized admin backdoor.</a:t>
            </a:r>
          </a:p>
          <a:p>
            <a:r>
              <a:t>- 81 automated tests running clean with 100% pass rate.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(Slide 7):</a:t>
            </a:r>
          </a:p>
          <a:p>
            <a:r>
              <a:t>"Honest traction: we are a hackathon team, so the traction is engineering depth, not DAU. The program is live on mainnet, the app runs on the Seeker, and the publishing path into the dApp Store is next."</a:t>
            </a:r>
          </a:p>
          <a:p>
            <a:r>
              <a:t>Objection Prep:</a:t>
            </a:r>
          </a:p>
          <a:p>
            <a:r>
              <a:t>If asked: "You have no users yet?"</a:t>
            </a:r>
          </a:p>
          <a:p>
            <a:r>
              <a:t>Answer: "Correct, and deliberate. In lending, a smart contract bug costs real users their savings. We spent the hackathon window executing 6 audit passes and hardening the core. Real user acquisition starts the day we land in the Solana dApp Store.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(Slide 8):</a:t>
            </a:r>
          </a:p>
          <a:p>
            <a:r>
              <a:t>"For the SKR track: SKR in ClockLend is a staking product with real economic rights — tiered APR discounts, a slashable default bond, and a collateral class. And we price it from Pyth's SKR/USD feed — the market's price, verified on-chain, with no centralized keeper. That is staking, rewards, and access in one product."</a:t>
            </a:r>
          </a:p>
          <a:p>
            <a:r>
              <a:t>Key Takeaway for Judges:</a:t>
            </a:r>
          </a:p>
          <a:p>
            <a:r>
              <a:t>- ClockLend directly drives structural staking demand for SKR.</a:t>
            </a:r>
          </a:p>
          <a:p>
            <a:r>
              <a:t>- Borrowers need SKR to access 90% LTV and fee discounts.</a:t>
            </a:r>
          </a:p>
          <a:p>
            <a:r>
              <a:t>- Merchants stake SKR to earn trusted merchant badges.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(Slide 9):</a:t>
            </a:r>
          </a:p>
          <a:p>
            <a:r>
              <a:t>"Here is how ClockLend makes money and generates real value:</a:t>
            </a:r>
          </a:p>
          <a:p>
            <a:r>
              <a:t>1. 3 Automated Inflows: 0.25%-0.50% origination fees, 15% interest take-rate on repayments, and 5% liquidation margins.</a:t>
            </a:r>
          </a:p>
          <a:p>
            <a:r>
              <a:t>2. Value Distribution: 50% of origination fees flow directly to SKR stakers as USDC dividends. Desk owners keep 85% of interest and 100% of principal.</a:t>
            </a:r>
          </a:p>
          <a:p>
            <a:r>
              <a:t>3. Deflationary Flywheel: The developer can withdraw profits or execute automated SKR buyback-and-burn via Jupiter DEX or direct atomic burns, permanently decreasing SKR circulating supply on Solscan."</a:t>
            </a:r>
          </a:p>
          <a:p>
            <a:r>
              <a:t>Key Business Takeaway:</a:t>
            </a:r>
          </a:p>
          <a:p>
            <a:r>
              <a:t>- Real cash-flow protocol with no unbacked token emissions.</a:t>
            </a:r>
          </a:p>
          <a:p>
            <a:r>
              <a:t>- LPs get real yield, stakers get USDC dividends, and SKR supply decreases.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(Slide 10):</a:t>
            </a:r>
          </a:p>
          <a:p>
            <a:r>
              <a:t>"The ecosystem case: ClockLend turns SKR from a holding into a working asset — staked for discounts, locked as collateral, priced by Pyth. And it gives every Seeker wallet a portable credit history — the missing primitive for the social graph Solana Mobile is building."</a:t>
            </a:r>
          </a:p>
          <a:p>
            <a:r>
              <a:t>Key Ecosystem Takeaway:</a:t>
            </a:r>
          </a:p>
          <a:p>
            <a:r>
              <a:t>- Seeker needs real utility dApps that can't exist on Apple/Google App Stores.</a:t>
            </a:r>
          </a:p>
          <a:p>
            <a:r>
              <a:t>- ClockLend leverages Seed Vault, MWA, and NFC hardware features.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(Slide 11):</a:t>
            </a:r>
          </a:p>
          <a:p>
            <a:r>
              <a:t>"The ask is specific: a grand prize and the SKR integration prize. What you get in return is equally specific: a published Seeker app, seeded mainnet desks, and a borrower community — the lending layer for the social graph Solana Mobile is building."</a:t>
            </a:r>
          </a:p>
          <a:p>
            <a:r>
              <a:t>Key Closing Points:</a:t>
            </a:r>
          </a:p>
          <a:p>
            <a:r>
              <a:t>- Ready to ship on day one of Seeker retail deliveries.</a:t>
            </a:r>
          </a:p>
          <a:p>
            <a:r>
              <a:t>- Full mainnet deployment already verified.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(Slide 12):</a:t>
            </a:r>
          </a:p>
          <a:p>
            <a:r>
              <a:t>"Thank you. The repo is public — the program, the audits, the fuzz suite, the app. And the phone is on the table: let's take a live borrow on mainnet."</a:t>
            </a:r>
          </a:p>
          <a:p>
            <a:r>
              <a:t>Demo Checklist:</a:t>
            </a:r>
          </a:p>
          <a:p>
            <a:r>
              <a:t>1. Show Seeker home screen with ClockLend icon.</a:t>
            </a:r>
          </a:p>
          <a:p>
            <a:r>
              <a:t>2. Open ClockLend -&gt; instant biometric Seed Vault unlock.</a:t>
            </a:r>
          </a:p>
          <a:p>
            <a:r>
              <a:t>3. Show live Genesis Desk with Pyth price updates.</a:t>
            </a:r>
          </a:p>
          <a:p>
            <a:r>
              <a:t>4. Execute instant micro-loan.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4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0" y="822960"/>
            <a:ext cx="4480560" cy="384048"/>
          </a:xfrm>
          <a:prstGeom prst="roundRect">
            <a:avLst/>
          </a:prstGeom>
          <a:solidFill>
            <a:srgbClr val="102D3C"/>
          </a:solidFill>
          <a:ln w="1524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4F195"/>
                </a:solidFill>
                <a:latin typeface="Trebuchet MS"/>
              </a:defRPr>
            </a:pPr>
            <a:r>
              <a:t>SOLANA MOBILE × RADIANTSDAO · CLOCK IN</a:t>
            </a:r>
          </a:p>
        </p:txBody>
      </p:sp>
      <p:pic>
        <p:nvPicPr>
          <p:cNvPr id="4" name="Picture 3" descr="logo.png"/>
          <p:cNvPicPr>
            <a:picLocks noChangeAspect="1"/>
          </p:cNvPicPr>
          <p:nvPr/>
        </p:nvPicPr>
        <p:blipFill>
          <a:blip r:embed="rId2"/>
          <a:stretch>
            <a:fillRect/>
          </a:stretch>
        </p:blipFill>
        <p:spPr>
          <a:xfrm>
            <a:off x="5180990" y="1463040"/>
            <a:ext cx="1828800" cy="1828800"/>
          </a:xfrm>
          <a:prstGeom prst="rect">
            <a:avLst/>
          </a:prstGeom>
        </p:spPr>
      </p:pic>
      <p:sp>
        <p:nvSpPr>
          <p:cNvPr id="5" name="TextBox 4"/>
          <p:cNvSpPr txBox="1"/>
          <p:nvPr/>
        </p:nvSpPr>
        <p:spPr>
          <a:xfrm>
            <a:off x="1371600" y="3383280"/>
            <a:ext cx="9448495" cy="1463040"/>
          </a:xfrm>
          <a:prstGeom prst="rect">
            <a:avLst/>
          </a:prstGeom>
          <a:noFill/>
        </p:spPr>
        <p:txBody>
          <a:bodyPr wrap="square">
            <a:spAutoFit/>
          </a:bodyPr>
          <a:lstStyle/>
          <a:p>
            <a:pPr algn="ctr"/>
            <a:r>
              <a:rPr sz="5600" b="1">
                <a:solidFill>
                  <a:srgbClr val="F8FAFC"/>
                </a:solidFill>
                <a:latin typeface="Trebuchet MS"/>
              </a:rPr>
              <a:t>Clock</a:t>
            </a:r>
            <a:r>
              <a:rPr sz="5600" b="1">
                <a:solidFill>
                  <a:srgbClr val="14F195"/>
                </a:solidFill>
                <a:latin typeface="Trebuchet MS"/>
              </a:rPr>
              <a:t>Lend</a:t>
            </a:r>
          </a:p>
          <a:p>
            <a:pPr algn="ctr">
              <a:spcBef>
                <a:spcPts val="800"/>
              </a:spcBef>
            </a:pPr>
            <a:r>
              <a:rPr sz="1800">
                <a:solidFill>
                  <a:srgbClr val="94A3B8"/>
                </a:solidFill>
                <a:latin typeface="Arial"/>
              </a:rPr>
              <a:t>Social credit, on-chain. Micro-lending &amp; pawns for the Seeker in your pocket.</a:t>
            </a:r>
          </a:p>
        </p:txBody>
      </p:sp>
      <p:sp>
        <p:nvSpPr>
          <p:cNvPr id="6" name="Rounded Rectangle 5"/>
          <p:cNvSpPr/>
          <p:nvPr/>
        </p:nvSpPr>
        <p:spPr>
          <a:xfrm>
            <a:off x="1569567" y="5120640"/>
            <a:ext cx="2651760" cy="438912"/>
          </a:xfrm>
          <a:prstGeom prst="roundRect">
            <a:avLst/>
          </a:prstGeom>
          <a:solidFill>
            <a:srgbClr val="102D3C"/>
          </a:solidFill>
          <a:ln w="1270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4F195"/>
                </a:solidFill>
                <a:latin typeface="Trebuchet MS"/>
              </a:defRPr>
            </a:pPr>
            <a:r>
              <a:t>● LIVE ON SOLANA MAINNET</a:t>
            </a:r>
          </a:p>
        </p:txBody>
      </p:sp>
      <p:sp>
        <p:nvSpPr>
          <p:cNvPr id="7" name="Rounded Rectangle 6"/>
          <p:cNvSpPr/>
          <p:nvPr/>
        </p:nvSpPr>
        <p:spPr>
          <a:xfrm>
            <a:off x="4495647" y="5120640"/>
            <a:ext cx="4023360" cy="438912"/>
          </a:xfrm>
          <a:prstGeom prst="roundRect">
            <a:avLst/>
          </a:prstGeom>
          <a:solidFill>
            <a:srgbClr val="0C284B"/>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D4FF"/>
                </a:solidFill>
                <a:latin typeface="Trebuchet MS"/>
              </a:defRPr>
            </a:pPr>
            <a:r>
              <a:t>SOLANA SEEKER NATIVE · MWA &amp; SEED VAULT</a:t>
            </a:r>
          </a:p>
        </p:txBody>
      </p:sp>
      <p:sp>
        <p:nvSpPr>
          <p:cNvPr id="8" name="Rounded Rectangle 7"/>
          <p:cNvSpPr/>
          <p:nvPr/>
        </p:nvSpPr>
        <p:spPr>
          <a:xfrm>
            <a:off x="8793327" y="5120640"/>
            <a:ext cx="1828800" cy="438912"/>
          </a:xfrm>
          <a:prstGeom prst="roundRect">
            <a:avLst/>
          </a:prstGeom>
          <a:solidFill>
            <a:srgbClr val="2D2314"/>
          </a:solidFill>
          <a:ln w="12700">
            <a:solidFill>
              <a:srgbClr val="FFB02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B020"/>
                </a:solidFill>
                <a:latin typeface="Trebuchet MS"/>
              </a:defRPr>
            </a:pPr>
            <a:r>
              <a:t>OCTOBER 2026</a:t>
            </a:r>
          </a:p>
        </p:txBody>
      </p:sp>
      <p:sp>
        <p:nvSpPr>
          <p:cNvPr id="9" name="TextBox 8"/>
          <p:cNvSpPr txBox="1"/>
          <p:nvPr/>
        </p:nvSpPr>
        <p:spPr>
          <a:xfrm>
            <a:off x="1371600" y="5943600"/>
            <a:ext cx="9448495" cy="457200"/>
          </a:xfrm>
          <a:prstGeom prst="rect">
            <a:avLst/>
          </a:prstGeom>
          <a:noFill/>
        </p:spPr>
        <p:txBody>
          <a:bodyPr wrap="none">
            <a:spAutoFit/>
          </a:bodyPr>
          <a:lstStyle/>
          <a:p>
            <a:pPr algn="ctr">
              <a:defRPr sz="1150">
                <a:solidFill>
                  <a:srgbClr val="788CAF"/>
                </a:solidFill>
                <a:latin typeface="Consolas"/>
              </a:defRPr>
            </a:pPr>
            <a:r>
              <a:t>Native Rust Program (282 KB, Zero-Anchor) · Pyth Pull Oracles · Slashable SKR Reputation Bonds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1563624" cy="347472"/>
          </a:xfrm>
          <a:prstGeom prst="roundRect">
            <a:avLst/>
          </a:prstGeom>
          <a:solidFill>
            <a:srgbClr val="102D3C"/>
          </a:solidFill>
          <a:ln w="1270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4F195"/>
                </a:solidFill>
                <a:latin typeface="Trebuchet MS"/>
              </a:defRPr>
            </a:pPr>
            <a:r>
              <a:t>THE PROBLEM</a:t>
            </a:r>
          </a:p>
        </p:txBody>
      </p:sp>
      <p:sp>
        <p:nvSpPr>
          <p:cNvPr id="4" name="TextBox 3"/>
          <p:cNvSpPr txBox="1"/>
          <p:nvPr/>
        </p:nvSpPr>
        <p:spPr>
          <a:xfrm>
            <a:off x="731520" y="868680"/>
            <a:ext cx="10698480" cy="822960"/>
          </a:xfrm>
          <a:prstGeom prst="rect">
            <a:avLst/>
          </a:prstGeom>
          <a:noFill/>
        </p:spPr>
        <p:txBody>
          <a:bodyPr wrap="square" lIns="0" tIns="0" rIns="0" bIns="0">
            <a:spAutoFit/>
          </a:bodyPr>
          <a:lstStyle/>
          <a:p>
            <a:pPr>
              <a:defRPr sz="2800" b="1">
                <a:latin typeface="Trebuchet MS"/>
              </a:defRPr>
            </a:pPr>
            <a:r>
              <a:rPr>
                <a:solidFill>
                  <a:srgbClr val="F8FAFC"/>
                </a:solidFill>
              </a:rPr>
              <a:t>Lending is built for whales, </a:t>
            </a:r>
            <a:r>
              <a:rPr>
                <a:solidFill>
                  <a:srgbClr val="14F195"/>
                </a:solidFill>
              </a:rPr>
              <a:t>not for people</a:t>
            </a:r>
            <a:r>
              <a:rPr>
                <a:solidFill>
                  <a:srgbClr val="F8FAFC"/>
                </a:solidFill>
              </a:rPr>
              <a:t>.</a:t>
            </a:r>
          </a:p>
          <a:p>
            <a:pPr>
              <a:spcBef>
                <a:spcPts val="400"/>
              </a:spcBef>
              <a:defRPr sz="1400">
                <a:solidFill>
                  <a:srgbClr val="94A3B8"/>
                </a:solidFill>
                <a:latin typeface="Arial"/>
              </a:defRPr>
            </a:pPr>
            <a:r>
              <a:t>Two broken worlds: Overcollateralized DeFi bots vs. risky informal community credit.</a:t>
            </a:r>
          </a:p>
        </p:txBody>
      </p:sp>
      <p:sp>
        <p:nvSpPr>
          <p:cNvPr id="5" name="TextBox 4"/>
          <p:cNvSpPr txBox="1"/>
          <p:nvPr/>
        </p:nvSpPr>
        <p:spPr>
          <a:xfrm>
            <a:off x="731520" y="6492240"/>
            <a:ext cx="10698480" cy="274320"/>
          </a:xfrm>
          <a:prstGeom prst="rect">
            <a:avLst/>
          </a:prstGeom>
          <a:noFill/>
        </p:spPr>
        <p:txBody>
          <a:bodyPr wrap="none" lIns="0" tIns="0" rIns="0" bIns="0">
            <a:spAutoFit/>
          </a:bodyPr>
          <a:lstStyle/>
          <a:p>
            <a:pPr>
              <a:defRPr sz="950">
                <a:solidFill>
                  <a:srgbClr val="5A6E91"/>
                </a:solidFill>
                <a:latin typeface="Arial"/>
              </a:defRPr>
            </a:pPr>
            <a:r>
              <a:t>ClockLend · Solana Seeker Micro-Lending &amp; Social Pawns · CLOCK IN Hackathon 2026</a:t>
            </a:r>
          </a:p>
        </p:txBody>
      </p:sp>
      <p:sp>
        <p:nvSpPr>
          <p:cNvPr id="6" name="Rounded Rectangle 5"/>
          <p:cNvSpPr/>
          <p:nvPr/>
        </p:nvSpPr>
        <p:spPr>
          <a:xfrm>
            <a:off x="731520" y="1737360"/>
            <a:ext cx="5212080" cy="3657600"/>
          </a:xfrm>
          <a:prstGeom prst="roundRect">
            <a:avLst/>
          </a:prstGeom>
          <a:solidFill>
            <a:srgbClr val="182340"/>
          </a:solidFill>
          <a:ln w="1270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20240"/>
            <a:ext cx="4754880" cy="3291840"/>
          </a:xfrm>
          <a:prstGeom prst="rect">
            <a:avLst/>
          </a:prstGeom>
          <a:noFill/>
        </p:spPr>
        <p:txBody>
          <a:bodyPr wrap="square">
            <a:spAutoFit/>
          </a:bodyPr>
          <a:lstStyle/>
          <a:p>
            <a:pPr>
              <a:defRPr sz="2000" b="1">
                <a:solidFill>
                  <a:srgbClr val="FF5D5D"/>
                </a:solidFill>
                <a:latin typeface="Trebuchet MS"/>
              </a:defRPr>
            </a:pPr>
            <a:r>
              <a:t>🏛️ DeFi's Whale Wall</a:t>
            </a:r>
          </a:p>
          <a:p>
            <a:pPr>
              <a:spcBef>
                <a:spcPts val="1000"/>
              </a:spcBef>
            </a:pPr>
            <a:r>
              <a:rPr b="1" sz="1300">
                <a:solidFill>
                  <a:srgbClr val="F8FAFC"/>
                </a:solidFill>
              </a:rPr>
              <a:t>• 150%+ Overcollateralization: </a:t>
            </a:r>
            <a:r>
              <a:rPr sz="1200">
                <a:solidFill>
                  <a:srgbClr val="CBD5E1"/>
                </a:solidFill>
              </a:rPr>
              <a:t>Locks out 99% of everyday mobile users who just need liquidity.</a:t>
            </a:r>
          </a:p>
          <a:p>
            <a:pPr>
              <a:spcBef>
                <a:spcPts val="1000"/>
              </a:spcBef>
            </a:pPr>
            <a:r>
              <a:rPr b="1" sz="1300">
                <a:solidFill>
                  <a:srgbClr val="F8FAFC"/>
                </a:solidFill>
              </a:rPr>
              <a:t>• Ruthless Liquidation Bots: </a:t>
            </a:r>
            <a:r>
              <a:rPr sz="1200">
                <a:solidFill>
                  <a:srgbClr val="CBD5E1"/>
                </a:solidFill>
              </a:rPr>
              <a:t>Strike the microsecond oracle prices dip — zero mercy, zero recourse.</a:t>
            </a:r>
          </a:p>
          <a:p>
            <a:pPr>
              <a:spcBef>
                <a:spcPts val="1000"/>
              </a:spcBef>
            </a:pPr>
            <a:r>
              <a:rPr b="1" sz="1300">
                <a:solidFill>
                  <a:srgbClr val="F8FAFC"/>
                </a:solidFill>
              </a:rPr>
              <a:t>• Reputation Means Nothing: </a:t>
            </a:r>
            <a:r>
              <a:rPr sz="1200">
                <a:solidFill>
                  <a:srgbClr val="CBD5E1"/>
                </a:solidFill>
              </a:rPr>
              <a:t>A 10-year perfect borrower is treated the same as an anonymous bot.</a:t>
            </a:r>
          </a:p>
          <a:p>
            <a:pPr>
              <a:spcBef>
                <a:spcPts val="1000"/>
              </a:spcBef>
            </a:pPr>
            <a:r>
              <a:rPr b="1" sz="1300">
                <a:solidFill>
                  <a:srgbClr val="F8FAFC"/>
                </a:solidFill>
              </a:rPr>
              <a:t>• Desktop-First UX: </a:t>
            </a:r>
            <a:r>
              <a:rPr sz="1200">
                <a:solidFill>
                  <a:srgbClr val="CBD5E1"/>
                </a:solidFill>
              </a:rPr>
              <a:t>Complex institutional interfaces built for web traders, not mobile phones.</a:t>
            </a:r>
          </a:p>
        </p:txBody>
      </p:sp>
      <p:sp>
        <p:nvSpPr>
          <p:cNvPr id="8" name="Rounded Rectangle 7"/>
          <p:cNvSpPr/>
          <p:nvPr/>
        </p:nvSpPr>
        <p:spPr>
          <a:xfrm>
            <a:off x="6248095" y="1737360"/>
            <a:ext cx="5212080" cy="3657600"/>
          </a:xfrm>
          <a:prstGeom prst="roundRect">
            <a:avLst/>
          </a:prstGeom>
          <a:solidFill>
            <a:srgbClr val="182340"/>
          </a:solidFill>
          <a:ln w="1270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76695" y="1920240"/>
            <a:ext cx="4754880" cy="3291840"/>
          </a:xfrm>
          <a:prstGeom prst="rect">
            <a:avLst/>
          </a:prstGeom>
          <a:noFill/>
        </p:spPr>
        <p:txBody>
          <a:bodyPr wrap="square">
            <a:spAutoFit/>
          </a:bodyPr>
          <a:lstStyle/>
          <a:p>
            <a:pPr>
              <a:defRPr sz="2000" b="1">
                <a:solidFill>
                  <a:srgbClr val="FFB020"/>
                </a:solidFill>
                <a:latin typeface="Trebuchet MS"/>
              </a:defRPr>
            </a:pPr>
            <a:r>
              <a:t>🤝 The Informal Economy (Chit Funds / ROSCAs)</a:t>
            </a:r>
          </a:p>
          <a:p>
            <a:pPr>
              <a:spcBef>
                <a:spcPts val="1000"/>
              </a:spcBef>
            </a:pPr>
            <a:r>
              <a:rPr b="1" sz="1300">
                <a:solidFill>
                  <a:srgbClr val="F8FAFC"/>
                </a:solidFill>
              </a:rPr>
              <a:t>• Hundreds of Billions Moved: </a:t>
            </a:r>
            <a:r>
              <a:rPr sz="1200">
                <a:solidFill>
                  <a:srgbClr val="CBD5E1"/>
                </a:solidFill>
              </a:rPr>
              <a:t>Massive global volume moving through peer circles and merchant pacts.</a:t>
            </a:r>
          </a:p>
          <a:p>
            <a:pPr>
              <a:spcBef>
                <a:spcPts val="1000"/>
              </a:spcBef>
            </a:pPr>
            <a:r>
              <a:rPr b="1" sz="1300">
                <a:solidFill>
                  <a:srgbClr val="F8FAFC"/>
                </a:solidFill>
              </a:rPr>
              <a:t>• Purely Trust-Based: </a:t>
            </a:r>
            <a:r>
              <a:rPr sz="1200">
                <a:solidFill>
                  <a:srgbClr val="CBD5E1"/>
                </a:solidFill>
              </a:rPr>
              <a:t>Zero collateral security or legal enforcement — defaults break communities.</a:t>
            </a:r>
          </a:p>
          <a:p>
            <a:pPr>
              <a:spcBef>
                <a:spcPts val="1000"/>
              </a:spcBef>
            </a:pPr>
            <a:r>
              <a:rPr b="1" sz="1300">
                <a:solidFill>
                  <a:srgbClr val="F8FAFC"/>
                </a:solidFill>
              </a:rPr>
              <a:t>• Unbanked Vulnerability: </a:t>
            </a:r>
            <a:r>
              <a:rPr sz="1200">
                <a:solidFill>
                  <a:srgbClr val="CBD5E1"/>
                </a:solidFill>
              </a:rPr>
              <a:t>Lenders have no recourse when borrowers vanish or experience hardship.</a:t>
            </a:r>
          </a:p>
          <a:p>
            <a:pPr>
              <a:spcBef>
                <a:spcPts val="1000"/>
              </a:spcBef>
            </a:pPr>
            <a:r>
              <a:rPr b="1" sz="1300">
                <a:solidFill>
                  <a:srgbClr val="F8FAFC"/>
                </a:solidFill>
              </a:rPr>
              <a:t>• Zero Portable Credit History: </a:t>
            </a:r>
            <a:r>
              <a:rPr sz="1200">
                <a:solidFill>
                  <a:srgbClr val="CBD5E1"/>
                </a:solidFill>
              </a:rPr>
              <a:t>Decades of responsible borrowing never yield a verifiable credit rating.</a:t>
            </a:r>
          </a:p>
        </p:txBody>
      </p:sp>
      <p:sp>
        <p:nvSpPr>
          <p:cNvPr id="10" name="Rounded Rectangle 9"/>
          <p:cNvSpPr/>
          <p:nvPr/>
        </p:nvSpPr>
        <p:spPr>
          <a:xfrm>
            <a:off x="731520" y="5577840"/>
            <a:ext cx="10728655" cy="749808"/>
          </a:xfrm>
          <a:prstGeom prst="roundRect">
            <a:avLst/>
          </a:prstGeom>
          <a:solidFill>
            <a:srgbClr val="102D3C"/>
          </a:solidFill>
          <a:ln w="1905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623560"/>
            <a:ext cx="10362895" cy="640080"/>
          </a:xfrm>
          <a:prstGeom prst="rect">
            <a:avLst/>
          </a:prstGeom>
          <a:noFill/>
        </p:spPr>
        <p:txBody>
          <a:bodyPr wrap="none">
            <a:spAutoFit/>
          </a:bodyPr>
          <a:lstStyle/>
          <a:p>
            <a:pPr algn="ctr"/>
            <a:r>
              <a:rPr b="1" sz="1500">
                <a:solidFill>
                  <a:srgbClr val="14F195"/>
                </a:solidFill>
              </a:rPr>
              <a:t>The Core Gap: </a:t>
            </a:r>
            <a:r>
              <a:rPr sz="1500">
                <a:solidFill>
                  <a:srgbClr val="F8FAFC"/>
                </a:solidFill>
              </a:rPr>
              <a:t>Neither side gets both trust AND collateral security. ClockLend bridges this on the Seeker.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4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1664208" cy="347472"/>
          </a:xfrm>
          <a:prstGeom prst="roundRect">
            <a:avLst/>
          </a:prstGeom>
          <a:solidFill>
            <a:srgbClr val="102D3C"/>
          </a:solidFill>
          <a:ln w="1270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4F195"/>
                </a:solidFill>
                <a:latin typeface="Trebuchet MS"/>
              </a:defRPr>
            </a:pPr>
            <a:r>
              <a:t>THE SOLUTION</a:t>
            </a:r>
          </a:p>
        </p:txBody>
      </p:sp>
      <p:sp>
        <p:nvSpPr>
          <p:cNvPr id="4" name="TextBox 3"/>
          <p:cNvSpPr txBox="1"/>
          <p:nvPr/>
        </p:nvSpPr>
        <p:spPr>
          <a:xfrm>
            <a:off x="731520" y="868680"/>
            <a:ext cx="10698480" cy="822960"/>
          </a:xfrm>
          <a:prstGeom prst="rect">
            <a:avLst/>
          </a:prstGeom>
          <a:noFill/>
        </p:spPr>
        <p:txBody>
          <a:bodyPr wrap="square" lIns="0" tIns="0" rIns="0" bIns="0">
            <a:spAutoFit/>
          </a:bodyPr>
          <a:lstStyle/>
          <a:p>
            <a:pPr>
              <a:defRPr sz="2800" b="1">
                <a:latin typeface="Trebuchet MS"/>
              </a:defRPr>
            </a:pPr>
            <a:r>
              <a:rPr>
                <a:solidFill>
                  <a:srgbClr val="F8FAFC"/>
                </a:solidFill>
              </a:rPr>
              <a:t>Marketplace-style P2P credit, with </a:t>
            </a:r>
            <a:r>
              <a:rPr>
                <a:solidFill>
                  <a:srgbClr val="14F195"/>
                </a:solidFill>
              </a:rPr>
              <a:t>collateral on-chain</a:t>
            </a:r>
            <a:r>
              <a:rPr>
                <a:solidFill>
                  <a:srgbClr val="F8FAFC"/>
                </a:solidFill>
              </a:rPr>
              <a:t>.</a:t>
            </a:r>
          </a:p>
          <a:p>
            <a:pPr>
              <a:spcBef>
                <a:spcPts val="400"/>
              </a:spcBef>
              <a:defRPr sz="1400">
                <a:solidFill>
                  <a:srgbClr val="94A3B8"/>
                </a:solidFill>
                <a:latin typeface="Arial"/>
              </a:defRPr>
            </a:pPr>
            <a:r>
              <a:t>Three intuitive borrowing modes powered by a human-centric debt settlement engine.</a:t>
            </a:r>
          </a:p>
        </p:txBody>
      </p:sp>
      <p:sp>
        <p:nvSpPr>
          <p:cNvPr id="5" name="TextBox 4"/>
          <p:cNvSpPr txBox="1"/>
          <p:nvPr/>
        </p:nvSpPr>
        <p:spPr>
          <a:xfrm>
            <a:off x="731520" y="6492240"/>
            <a:ext cx="10698480" cy="274320"/>
          </a:xfrm>
          <a:prstGeom prst="rect">
            <a:avLst/>
          </a:prstGeom>
          <a:noFill/>
        </p:spPr>
        <p:txBody>
          <a:bodyPr wrap="none" lIns="0" tIns="0" rIns="0" bIns="0">
            <a:spAutoFit/>
          </a:bodyPr>
          <a:lstStyle/>
          <a:p>
            <a:pPr>
              <a:defRPr sz="950">
                <a:solidFill>
                  <a:srgbClr val="5A6E91"/>
                </a:solidFill>
                <a:latin typeface="Arial"/>
              </a:defRPr>
            </a:pPr>
            <a:r>
              <a:t>ClockLend · Solana Seeker Micro-Lending &amp; Social Pawns · CLOCK IN Hackathon 2026</a:t>
            </a:r>
          </a:p>
        </p:txBody>
      </p:sp>
      <p:sp>
        <p:nvSpPr>
          <p:cNvPr id="6" name="Rounded Rectangle 5"/>
          <p:cNvSpPr/>
          <p:nvPr/>
        </p:nvSpPr>
        <p:spPr>
          <a:xfrm>
            <a:off x="731520" y="1691640"/>
            <a:ext cx="3413455" cy="2286000"/>
          </a:xfrm>
          <a:prstGeom prst="roundRect">
            <a:avLst/>
          </a:prstGeom>
          <a:solidFill>
            <a:srgbClr val="182340"/>
          </a:solidFill>
          <a:ln w="1270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83080"/>
            <a:ext cx="3047695" cy="2103120"/>
          </a:xfrm>
          <a:prstGeom prst="rect">
            <a:avLst/>
          </a:prstGeom>
          <a:noFill/>
        </p:spPr>
        <p:txBody>
          <a:bodyPr wrap="square">
            <a:spAutoFit/>
          </a:bodyPr>
          <a:lstStyle/>
          <a:p>
            <a:pPr>
              <a:defRPr sz="1800" b="1">
                <a:solidFill>
                  <a:srgbClr val="00D4FF"/>
                </a:solidFill>
                <a:latin typeface="Trebuchet MS"/>
              </a:defRPr>
            </a:pPr>
            <a:r>
              <a:t>⚡ Express Borrow</a:t>
            </a:r>
          </a:p>
          <a:p>
            <a:pPr>
              <a:spcBef>
                <a:spcPts val="400"/>
              </a:spcBef>
              <a:defRPr sz="1200" b="1">
                <a:solidFill>
                  <a:srgbClr val="F8FAFC"/>
                </a:solidFill>
              </a:defRPr>
            </a:pPr>
            <a:r>
              <a:t>1-Tap Instant Liquidity</a:t>
            </a:r>
          </a:p>
          <a:p>
            <a:pPr>
              <a:spcBef>
                <a:spcPts val="800"/>
              </a:spcBef>
              <a:defRPr sz="1150">
                <a:solidFill>
                  <a:srgbClr val="CBD5E1"/>
                </a:solidFill>
              </a:defRPr>
            </a:pPr>
            <a:r>
              <a:t>Collateral valued in real-time via Pyth pull oracles. The smart router automatically selects the lowest-APR available lending desk.</a:t>
            </a:r>
          </a:p>
        </p:txBody>
      </p:sp>
      <p:sp>
        <p:nvSpPr>
          <p:cNvPr id="8" name="Rounded Rectangle 7"/>
          <p:cNvSpPr/>
          <p:nvPr/>
        </p:nvSpPr>
        <p:spPr>
          <a:xfrm>
            <a:off x="4389120" y="1691640"/>
            <a:ext cx="3413455" cy="2286000"/>
          </a:xfrm>
          <a:prstGeom prst="roundRect">
            <a:avLst/>
          </a:prstGeom>
          <a:solidFill>
            <a:srgbClr val="182340"/>
          </a:solidFill>
          <a:ln w="1270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783080"/>
            <a:ext cx="3047695" cy="2103120"/>
          </a:xfrm>
          <a:prstGeom prst="rect">
            <a:avLst/>
          </a:prstGeom>
          <a:noFill/>
        </p:spPr>
        <p:txBody>
          <a:bodyPr wrap="square">
            <a:spAutoFit/>
          </a:bodyPr>
          <a:lstStyle/>
          <a:p>
            <a:pPr>
              <a:defRPr sz="1800" b="1">
                <a:solidFill>
                  <a:srgbClr val="14F195"/>
                </a:solidFill>
                <a:latin typeface="Trebuchet MS"/>
              </a:defRPr>
            </a:pPr>
            <a:r>
              <a:t>🏪 Desks &amp; Circles</a:t>
            </a:r>
          </a:p>
          <a:p>
            <a:pPr>
              <a:spcBef>
                <a:spcPts val="400"/>
              </a:spcBef>
              <a:defRPr sz="1200" b="1">
                <a:solidFill>
                  <a:srgbClr val="F8FAFC"/>
                </a:solidFill>
              </a:defRPr>
            </a:pPr>
            <a:r>
              <a:t>Merchant Lending Capital</a:t>
            </a:r>
          </a:p>
          <a:p>
            <a:pPr>
              <a:spcBef>
                <a:spcPts val="800"/>
              </a:spcBef>
              <a:defRPr sz="1150">
                <a:solidFill>
                  <a:srgbClr val="CBD5E1"/>
                </a:solidFill>
              </a:defRPr>
            </a:pPr>
            <a:r>
              <a:t>Community leaders &amp; merchants deploy on-chain escrowed desks with their own APR, LTV limits, and custom duration rules.</a:t>
            </a:r>
          </a:p>
        </p:txBody>
      </p:sp>
      <p:sp>
        <p:nvSpPr>
          <p:cNvPr id="10" name="Rounded Rectangle 9"/>
          <p:cNvSpPr/>
          <p:nvPr/>
        </p:nvSpPr>
        <p:spPr>
          <a:xfrm>
            <a:off x="8046720" y="1691640"/>
            <a:ext cx="3413455" cy="2286000"/>
          </a:xfrm>
          <a:prstGeom prst="roundRect">
            <a:avLst/>
          </a:prstGeom>
          <a:solidFill>
            <a:srgbClr val="182340"/>
          </a:solidFill>
          <a:ln w="1270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783080"/>
            <a:ext cx="3047695" cy="2103120"/>
          </a:xfrm>
          <a:prstGeom prst="rect">
            <a:avLst/>
          </a:prstGeom>
          <a:noFill/>
        </p:spPr>
        <p:txBody>
          <a:bodyPr wrap="square">
            <a:spAutoFit/>
          </a:bodyPr>
          <a:lstStyle/>
          <a:p>
            <a:pPr>
              <a:defRPr sz="1800" b="1">
                <a:solidFill>
                  <a:srgbClr val="FFB020"/>
                </a:solidFill>
                <a:latin typeface="Trebuchet MS"/>
              </a:defRPr>
            </a:pPr>
            <a:r>
              <a:t>🃏 Pawn Deck</a:t>
            </a:r>
          </a:p>
          <a:p>
            <a:pPr>
              <a:spcBef>
                <a:spcPts val="400"/>
              </a:spcBef>
              <a:defRPr sz="1200" b="1">
                <a:solidFill>
                  <a:srgbClr val="F8FAFC"/>
                </a:solidFill>
              </a:defRPr>
            </a:pPr>
            <a:r>
              <a:t>1:1 Social Pawn Listings</a:t>
            </a:r>
          </a:p>
          <a:p>
            <a:pPr>
              <a:spcBef>
                <a:spcPts val="800"/>
              </a:spcBef>
              <a:defRPr sz="1150">
                <a:solidFill>
                  <a:srgbClr val="CBD5E1"/>
                </a:solidFill>
              </a:defRPr>
            </a:pPr>
            <a:r>
              <a:t>Direct borrower-to-lender listings. Stake SOL or SKR collateral directly. Peers fund each other transparently on-chain.</a:t>
            </a:r>
          </a:p>
        </p:txBody>
      </p:sp>
      <p:sp>
        <p:nvSpPr>
          <p:cNvPr id="12" name="Rounded Rectangle 11"/>
          <p:cNvSpPr/>
          <p:nvPr/>
        </p:nvSpPr>
        <p:spPr>
          <a:xfrm>
            <a:off x="731520" y="4114800"/>
            <a:ext cx="5212080" cy="1325880"/>
          </a:xfrm>
          <a:prstGeom prst="roundRect">
            <a:avLst/>
          </a:prstGeom>
          <a:solidFill>
            <a:srgbClr val="182340"/>
          </a:solidFill>
          <a:ln w="1270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160520"/>
            <a:ext cx="4846320" cy="1188720"/>
          </a:xfrm>
          <a:prstGeom prst="rect">
            <a:avLst/>
          </a:prstGeom>
          <a:noFill/>
        </p:spPr>
        <p:txBody>
          <a:bodyPr wrap="square">
            <a:spAutoFit/>
          </a:bodyPr>
          <a:lstStyle/>
          <a:p>
            <a:pPr>
              <a:defRPr sz="1500" b="1">
                <a:solidFill>
                  <a:srgbClr val="14F195"/>
                </a:solidFill>
                <a:latin typeface="Trebuchet MS"/>
              </a:defRPr>
            </a:pPr>
            <a:r>
              <a:t>💰 Lenders Earn Real Yield</a:t>
            </a:r>
          </a:p>
          <a:p>
            <a:pPr>
              <a:spcBef>
                <a:spcPts val="400"/>
              </a:spcBef>
              <a:defRPr sz="1150">
                <a:solidFill>
                  <a:srgbClr val="CBD5E1"/>
                </a:solidFill>
              </a:defRPr>
            </a:pPr>
            <a:r>
              <a:t>Earn fixed APR on every loan originated, plus a 5% liquidation bonus if a loan defaults. Your desk, your rules, your risk profile.</a:t>
            </a:r>
          </a:p>
        </p:txBody>
      </p:sp>
      <p:sp>
        <p:nvSpPr>
          <p:cNvPr id="14" name="Rounded Rectangle 13"/>
          <p:cNvSpPr/>
          <p:nvPr/>
        </p:nvSpPr>
        <p:spPr>
          <a:xfrm>
            <a:off x="6248095" y="4114800"/>
            <a:ext cx="5212080" cy="1325880"/>
          </a:xfrm>
          <a:prstGeom prst="roundRect">
            <a:avLst/>
          </a:prstGeom>
          <a:solidFill>
            <a:srgbClr val="182340"/>
          </a:solidFill>
          <a:ln w="1270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30975" y="4160520"/>
            <a:ext cx="4846320" cy="1188720"/>
          </a:xfrm>
          <a:prstGeom prst="rect">
            <a:avLst/>
          </a:prstGeom>
          <a:noFill/>
        </p:spPr>
        <p:txBody>
          <a:bodyPr wrap="square">
            <a:spAutoFit/>
          </a:bodyPr>
          <a:lstStyle/>
          <a:p>
            <a:pPr>
              <a:defRPr sz="1500" b="1">
                <a:solidFill>
                  <a:srgbClr val="00D4FF"/>
                </a:solidFill>
                <a:latin typeface="Trebuchet MS"/>
              </a:defRPr>
            </a:pPr>
            <a:r>
              <a:t>📈 Borrowers Keep Staking Returns</a:t>
            </a:r>
          </a:p>
          <a:p>
            <a:pPr>
              <a:spcBef>
                <a:spcPts val="400"/>
              </a:spcBef>
              <a:defRPr sz="1150">
                <a:solidFill>
                  <a:srgbClr val="CBD5E1"/>
                </a:solidFill>
              </a:defRPr>
            </a:pPr>
            <a:r>
              <a:t>Locked SKR remains staked inside protocol escrow while securing the loan. Reputation points and staking rewards flow uninterrupted.</a:t>
            </a:r>
          </a:p>
        </p:txBody>
      </p:sp>
      <p:sp>
        <p:nvSpPr>
          <p:cNvPr id="16" name="Rounded Rectangle 15"/>
          <p:cNvSpPr/>
          <p:nvPr/>
        </p:nvSpPr>
        <p:spPr>
          <a:xfrm>
            <a:off x="731520" y="5577840"/>
            <a:ext cx="3413455" cy="777240"/>
          </a:xfrm>
          <a:prstGeom prst="roundRect">
            <a:avLst/>
          </a:prstGeom>
          <a:solidFill>
            <a:srgbClr val="102D3C"/>
          </a:solidFill>
          <a:ln w="1905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5596128"/>
            <a:ext cx="3139135" cy="731520"/>
          </a:xfrm>
          <a:prstGeom prst="rect">
            <a:avLst/>
          </a:prstGeom>
          <a:noFill/>
        </p:spPr>
        <p:txBody>
          <a:bodyPr wrap="none">
            <a:spAutoFit/>
          </a:bodyPr>
          <a:lstStyle/>
          <a:p>
            <a:r>
              <a:rPr sz="2200" b="1">
                <a:solidFill>
                  <a:srgbClr val="FFB020"/>
                </a:solidFill>
                <a:latin typeface="Trebuchet MS"/>
              </a:rPr>
              <a:t>24h  </a:t>
            </a:r>
            <a:r>
              <a:rPr sz="1200" b="1">
                <a:solidFill>
                  <a:srgbClr val="F8FAFC"/>
                </a:solidFill>
              </a:rPr>
              <a:t>Social Grace Period</a:t>
            </a:r>
          </a:p>
          <a:p>
            <a:pPr>
              <a:defRPr sz="950">
                <a:solidFill>
                  <a:srgbClr val="94A3B8"/>
                </a:solidFill>
              </a:defRPr>
            </a:pPr>
            <a:r>
              <a:t>Circle rescues default before bots can liquidate</a:t>
            </a:r>
          </a:p>
        </p:txBody>
      </p:sp>
      <p:sp>
        <p:nvSpPr>
          <p:cNvPr id="18" name="Rounded Rectangle 17"/>
          <p:cNvSpPr/>
          <p:nvPr/>
        </p:nvSpPr>
        <p:spPr>
          <a:xfrm>
            <a:off x="4389120" y="5577840"/>
            <a:ext cx="3413455" cy="777240"/>
          </a:xfrm>
          <a:prstGeom prst="roundRect">
            <a:avLst/>
          </a:prstGeom>
          <a:solidFill>
            <a:srgbClr val="102D3C"/>
          </a:solidFill>
          <a:ln w="1905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26280" y="5596128"/>
            <a:ext cx="3139135" cy="731520"/>
          </a:xfrm>
          <a:prstGeom prst="rect">
            <a:avLst/>
          </a:prstGeom>
          <a:noFill/>
        </p:spPr>
        <p:txBody>
          <a:bodyPr wrap="none">
            <a:spAutoFit/>
          </a:bodyPr>
          <a:lstStyle/>
          <a:p>
            <a:r>
              <a:rPr sz="2200" b="1">
                <a:solidFill>
                  <a:srgbClr val="14F195"/>
                </a:solidFill>
                <a:latin typeface="Trebuchet MS"/>
              </a:rPr>
              <a:t>90%  </a:t>
            </a:r>
            <a:r>
              <a:rPr sz="1200" b="1">
                <a:solidFill>
                  <a:srgbClr val="F8FAFC"/>
                </a:solidFill>
              </a:rPr>
              <a:t>Max Borrow LTV</a:t>
            </a:r>
          </a:p>
          <a:p>
            <a:pPr>
              <a:defRPr sz="950">
                <a:solidFill>
                  <a:srgbClr val="94A3B8"/>
                </a:solidFill>
              </a:defRPr>
            </a:pPr>
            <a:r>
              <a:t>Unlocked by holding a staked SKR reputation bond</a:t>
            </a:r>
          </a:p>
        </p:txBody>
      </p:sp>
      <p:sp>
        <p:nvSpPr>
          <p:cNvPr id="20" name="Rounded Rectangle 19"/>
          <p:cNvSpPr/>
          <p:nvPr/>
        </p:nvSpPr>
        <p:spPr>
          <a:xfrm>
            <a:off x="8046720" y="5577840"/>
            <a:ext cx="3413455" cy="777240"/>
          </a:xfrm>
          <a:prstGeom prst="roundRect">
            <a:avLst/>
          </a:prstGeom>
          <a:solidFill>
            <a:srgbClr val="102D3C"/>
          </a:solidFill>
          <a:ln w="1905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83880" y="5596128"/>
            <a:ext cx="3139135" cy="731520"/>
          </a:xfrm>
          <a:prstGeom prst="rect">
            <a:avLst/>
          </a:prstGeom>
          <a:noFill/>
        </p:spPr>
        <p:txBody>
          <a:bodyPr wrap="none">
            <a:spAutoFit/>
          </a:bodyPr>
          <a:lstStyle/>
          <a:p>
            <a:r>
              <a:rPr sz="2200" b="1">
                <a:solidFill>
                  <a:srgbClr val="00D4FF"/>
                </a:solidFill>
                <a:latin typeface="Trebuchet MS"/>
              </a:rPr>
              <a:t>50%  </a:t>
            </a:r>
            <a:r>
              <a:rPr sz="1200" b="1">
                <a:solidFill>
                  <a:srgbClr val="F8FAFC"/>
                </a:solidFill>
              </a:rPr>
              <a:t>APR Fee Discount</a:t>
            </a:r>
          </a:p>
          <a:p>
            <a:pPr>
              <a:defRPr sz="950">
                <a:solidFill>
                  <a:srgbClr val="94A3B8"/>
                </a:solidFill>
              </a:defRPr>
            </a:pPr>
            <a:r>
              <a:t>Exclusive rate reduction for top-tier SKR stakers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1563624" cy="347472"/>
          </a:xfrm>
          <a:prstGeom prst="roundRect">
            <a:avLst/>
          </a:prstGeom>
          <a:solidFill>
            <a:srgbClr val="102D3C"/>
          </a:solidFill>
          <a:ln w="1270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4F195"/>
                </a:solidFill>
                <a:latin typeface="Trebuchet MS"/>
              </a:defRPr>
            </a:pPr>
            <a:r>
              <a:t>THE PRODUCT</a:t>
            </a:r>
          </a:p>
        </p:txBody>
      </p:sp>
      <p:sp>
        <p:nvSpPr>
          <p:cNvPr id="4" name="TextBox 3"/>
          <p:cNvSpPr txBox="1"/>
          <p:nvPr/>
        </p:nvSpPr>
        <p:spPr>
          <a:xfrm>
            <a:off x="731520" y="868680"/>
            <a:ext cx="10698480" cy="822960"/>
          </a:xfrm>
          <a:prstGeom prst="rect">
            <a:avLst/>
          </a:prstGeom>
          <a:noFill/>
        </p:spPr>
        <p:txBody>
          <a:bodyPr wrap="square" lIns="0" tIns="0" rIns="0" bIns="0">
            <a:spAutoFit/>
          </a:bodyPr>
          <a:lstStyle/>
          <a:p>
            <a:pPr>
              <a:defRPr sz="2800" b="1">
                <a:latin typeface="Trebuchet MS"/>
              </a:defRPr>
            </a:pPr>
            <a:r>
              <a:rPr>
                <a:solidFill>
                  <a:srgbClr val="F8FAFC"/>
                </a:solidFill>
              </a:rPr>
              <a:t>The deck ends. </a:t>
            </a:r>
            <a:r>
              <a:rPr>
                <a:solidFill>
                  <a:srgbClr val="14F195"/>
                </a:solidFill>
              </a:rPr>
              <a:t>The app begins</a:t>
            </a:r>
            <a:r>
              <a:rPr>
                <a:solidFill>
                  <a:srgbClr val="F8FAFC"/>
                </a:solidFill>
              </a:rPr>
              <a:t>.</a:t>
            </a:r>
          </a:p>
          <a:p>
            <a:pPr>
              <a:spcBef>
                <a:spcPts val="400"/>
              </a:spcBef>
              <a:defRPr sz="1400">
                <a:solidFill>
                  <a:srgbClr val="94A3B8"/>
                </a:solidFill>
                <a:latin typeface="Arial"/>
              </a:defRPr>
            </a:pPr>
            <a:r>
              <a:t>Engineered natively for the Solana Seeker mobile experience.</a:t>
            </a:r>
          </a:p>
        </p:txBody>
      </p:sp>
      <p:sp>
        <p:nvSpPr>
          <p:cNvPr id="5" name="TextBox 4"/>
          <p:cNvSpPr txBox="1"/>
          <p:nvPr/>
        </p:nvSpPr>
        <p:spPr>
          <a:xfrm>
            <a:off x="731520" y="6492240"/>
            <a:ext cx="10698480" cy="274320"/>
          </a:xfrm>
          <a:prstGeom prst="rect">
            <a:avLst/>
          </a:prstGeom>
          <a:noFill/>
        </p:spPr>
        <p:txBody>
          <a:bodyPr wrap="none" lIns="0" tIns="0" rIns="0" bIns="0">
            <a:spAutoFit/>
          </a:bodyPr>
          <a:lstStyle/>
          <a:p>
            <a:pPr>
              <a:defRPr sz="950">
                <a:solidFill>
                  <a:srgbClr val="5A6E91"/>
                </a:solidFill>
                <a:latin typeface="Arial"/>
              </a:defRPr>
            </a:pPr>
            <a:r>
              <a:t>ClockLend · Solana Seeker Micro-Lending &amp; Social Pawns · CLOCK IN Hackathon 2026</a:t>
            </a:r>
          </a:p>
        </p:txBody>
      </p:sp>
      <p:pic>
        <p:nvPicPr>
          <p:cNvPr id="6" name="Picture 5" descr="seeker_screen.png"/>
          <p:cNvPicPr>
            <a:picLocks noChangeAspect="1"/>
          </p:cNvPicPr>
          <p:nvPr/>
        </p:nvPicPr>
        <p:blipFill>
          <a:blip r:embed="rId2"/>
          <a:stretch>
            <a:fillRect/>
          </a:stretch>
        </p:blipFill>
        <p:spPr>
          <a:xfrm>
            <a:off x="914400" y="1645920"/>
            <a:ext cx="2054831" cy="4572000"/>
          </a:xfrm>
          <a:prstGeom prst="rect">
            <a:avLst/>
          </a:prstGeom>
        </p:spPr>
      </p:pic>
      <p:sp>
        <p:nvSpPr>
          <p:cNvPr id="7" name="Rounded Rectangle 6"/>
          <p:cNvSpPr/>
          <p:nvPr/>
        </p:nvSpPr>
        <p:spPr>
          <a:xfrm>
            <a:off x="3657600" y="1645920"/>
            <a:ext cx="7802575" cy="2148840"/>
          </a:xfrm>
          <a:prstGeom prst="roundRect">
            <a:avLst/>
          </a:prstGeom>
          <a:solidFill>
            <a:srgbClr val="182340"/>
          </a:solidFill>
          <a:ln w="1905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40480" y="1737360"/>
            <a:ext cx="7436815" cy="1965960"/>
          </a:xfrm>
          <a:prstGeom prst="rect">
            <a:avLst/>
          </a:prstGeom>
          <a:noFill/>
        </p:spPr>
        <p:txBody>
          <a:bodyPr wrap="square">
            <a:spAutoFit/>
          </a:bodyPr>
          <a:lstStyle/>
          <a:p>
            <a:pPr>
              <a:defRPr sz="1800" b="1">
                <a:solidFill>
                  <a:srgbClr val="14F195"/>
                </a:solidFill>
                <a:latin typeface="Trebuchet MS"/>
              </a:defRPr>
            </a:pPr>
            <a:r>
              <a:t>📱 Running on Real Solana Seeker Hardware</a:t>
            </a:r>
          </a:p>
          <a:p>
            <a:pPr>
              <a:spcBef>
                <a:spcPts val="500"/>
              </a:spcBef>
            </a:pPr>
            <a:r>
              <a:rPr b="1" sz="1150">
                <a:solidFill>
                  <a:srgbClr val="F8FAFC"/>
                </a:solidFill>
              </a:rPr>
              <a:t>• Seed Vault Integration: </a:t>
            </a:r>
            <a:r>
              <a:rPr sz="1100">
                <a:solidFill>
                  <a:srgbClr val="CBD5E1"/>
                </a:solidFill>
              </a:rPr>
              <a:t>Hardware-isolated keys with instant biometric signing (no copy-pasting seed phrases).</a:t>
            </a:r>
          </a:p>
          <a:p>
            <a:pPr>
              <a:spcBef>
                <a:spcPts val="500"/>
              </a:spcBef>
            </a:pPr>
            <a:r>
              <a:rPr b="1" sz="1150">
                <a:solidFill>
                  <a:srgbClr val="F8FAFC"/>
                </a:solidFill>
              </a:rPr>
              <a:t>• Mobile Wallet Adapter (MWA 2.0): </a:t>
            </a:r>
            <a:r>
              <a:rPr sz="1100">
                <a:solidFill>
                  <a:srgbClr val="CBD5E1"/>
                </a:solidFill>
              </a:rPr>
              <a:t>Seamless connection to Seeker native wallets (Phantom, Solflare, Webcade).</a:t>
            </a:r>
          </a:p>
          <a:p>
            <a:pPr>
              <a:spcBef>
                <a:spcPts val="500"/>
              </a:spcBef>
            </a:pPr>
            <a:r>
              <a:rPr b="1" sz="1150">
                <a:solidFill>
                  <a:srgbClr val="F8FAFC"/>
                </a:solidFill>
              </a:rPr>
              <a:t>• Ticking Countdown Settlement: </a:t>
            </a:r>
            <a:r>
              <a:rPr sz="1100">
                <a:solidFill>
                  <a:srgbClr val="CBD5E1"/>
                </a:solidFill>
              </a:rPr>
              <a:t>Live debt countdown timers visually remind borrowers before grace periods trigger.</a:t>
            </a:r>
          </a:p>
          <a:p>
            <a:pPr>
              <a:spcBef>
                <a:spcPts val="500"/>
              </a:spcBef>
            </a:pPr>
            <a:r>
              <a:rPr b="1" sz="1150">
                <a:solidFill>
                  <a:srgbClr val="F8FAFC"/>
                </a:solidFill>
              </a:rPr>
              <a:t>• NFC Lending Circles: </a:t>
            </a:r>
            <a:r>
              <a:rPr sz="1100">
                <a:solidFill>
                  <a:srgbClr val="CBD5E1"/>
                </a:solidFill>
              </a:rPr>
              <a:t>Physical Seeker tap-to-borrow pairing between merchants and local customers.</a:t>
            </a:r>
          </a:p>
        </p:txBody>
      </p:sp>
      <p:sp>
        <p:nvSpPr>
          <p:cNvPr id="9" name="Rounded Rectangle 8"/>
          <p:cNvSpPr/>
          <p:nvPr/>
        </p:nvSpPr>
        <p:spPr>
          <a:xfrm>
            <a:off x="3657600" y="3977639"/>
            <a:ext cx="7802575" cy="2240280"/>
          </a:xfrm>
          <a:prstGeom prst="roundRect">
            <a:avLst/>
          </a:prstGeom>
          <a:solidFill>
            <a:srgbClr val="182340"/>
          </a:solidFill>
          <a:ln w="1270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0" y="4069080"/>
            <a:ext cx="7436815" cy="2057400"/>
          </a:xfrm>
          <a:prstGeom prst="rect">
            <a:avLst/>
          </a:prstGeom>
          <a:noFill/>
        </p:spPr>
        <p:txBody>
          <a:bodyPr wrap="square">
            <a:spAutoFit/>
          </a:bodyPr>
          <a:lstStyle/>
          <a:p>
            <a:pPr>
              <a:defRPr sz="1800" b="1">
                <a:solidFill>
                  <a:srgbClr val="00D4FF"/>
                </a:solidFill>
                <a:latin typeface="Trebuchet MS"/>
              </a:defRPr>
            </a:pPr>
            <a:r>
              <a:t>🎬 90-Second Demo Storyboard</a:t>
            </a:r>
          </a:p>
          <a:p>
            <a:pPr>
              <a:spcBef>
                <a:spcPts val="400"/>
              </a:spcBef>
            </a:pPr>
            <a:r>
              <a:rPr b="1" sz="1100">
                <a:solidFill>
                  <a:srgbClr val="FFB020"/>
                </a:solidFill>
                <a:latin typeface="Consolas"/>
              </a:rPr>
              <a:t>0:00 · </a:t>
            </a:r>
            <a:r>
              <a:rPr b="1" sz="1100">
                <a:solidFill>
                  <a:srgbClr val="F8FAFC"/>
                </a:solidFill>
              </a:rPr>
              <a:t>Seeker in Hand — </a:t>
            </a:r>
            <a:r>
              <a:rPr sz="1050">
                <a:solidFill>
                  <a:srgbClr val="CBD5E1"/>
                </a:solidFill>
              </a:rPr>
              <a:t>Open ClockLend, biometric Seed Vault unlock with 1 tap.</a:t>
            </a:r>
          </a:p>
          <a:p>
            <a:pPr>
              <a:spcBef>
                <a:spcPts val="400"/>
              </a:spcBef>
            </a:pPr>
            <a:r>
              <a:rPr b="1" sz="1100">
                <a:solidFill>
                  <a:srgbClr val="FFB020"/>
                </a:solidFill>
                <a:latin typeface="Consolas"/>
              </a:rPr>
              <a:t>0:20 · </a:t>
            </a:r>
            <a:r>
              <a:rPr b="1" sz="1100">
                <a:solidFill>
                  <a:srgbClr val="F8FAFC"/>
                </a:solidFill>
              </a:rPr>
              <a:t>1-Tap Express — </a:t>
            </a:r>
            <a:r>
              <a:rPr sz="1050">
                <a:solidFill>
                  <a:srgbClr val="CBD5E1"/>
                </a:solidFill>
              </a:rPr>
              <a:t>Deposit 0.5 SOL collateral; Pyth values at $75; borrow $50 USDC instantly.</a:t>
            </a:r>
          </a:p>
          <a:p>
            <a:pPr>
              <a:spcBef>
                <a:spcPts val="400"/>
              </a:spcBef>
            </a:pPr>
            <a:r>
              <a:rPr b="1" sz="1100">
                <a:solidFill>
                  <a:srgbClr val="FFB020"/>
                </a:solidFill>
                <a:latin typeface="Consolas"/>
              </a:rPr>
              <a:t>0:45 · </a:t>
            </a:r>
            <a:r>
              <a:rPr b="1" sz="1100">
                <a:solidFill>
                  <a:srgbClr val="F8FAFC"/>
                </a:solidFill>
              </a:rPr>
              <a:t>Countdown Clock — </a:t>
            </a:r>
            <a:r>
              <a:rPr sz="1050">
                <a:solidFill>
                  <a:srgbClr val="CBD5E1"/>
                </a:solidFill>
              </a:rPr>
              <a:t>Loan appears on dashboard with live settlement clock &amp; interest ticker.</a:t>
            </a:r>
          </a:p>
          <a:p>
            <a:pPr>
              <a:spcBef>
                <a:spcPts val="400"/>
              </a:spcBef>
            </a:pPr>
            <a:r>
              <a:rPr b="1" sz="1100">
                <a:solidFill>
                  <a:srgbClr val="FFB020"/>
                </a:solidFill>
                <a:latin typeface="Consolas"/>
              </a:rPr>
              <a:t>1:05 · </a:t>
            </a:r>
            <a:r>
              <a:rPr b="1" sz="1100">
                <a:solidFill>
                  <a:srgbClr val="F8FAFC"/>
                </a:solidFill>
              </a:rPr>
              <a:t>1-Swipe Repay — </a:t>
            </a:r>
            <a:r>
              <a:rPr sz="1050">
                <a:solidFill>
                  <a:srgbClr val="CBD5E1"/>
                </a:solidFill>
              </a:rPr>
              <a:t>Borrower repays $51 USDC; escrow releases 0.5 SOL collateral back to wallet.</a:t>
            </a:r>
          </a:p>
          <a:p>
            <a:pPr>
              <a:spcBef>
                <a:spcPts val="400"/>
              </a:spcBef>
            </a:pPr>
            <a:r>
              <a:rPr b="1" sz="1100">
                <a:solidFill>
                  <a:srgbClr val="FFB020"/>
                </a:solidFill>
                <a:latin typeface="Consolas"/>
              </a:rPr>
              <a:t>1:20 · </a:t>
            </a:r>
            <a:r>
              <a:rPr b="1" sz="1100">
                <a:solidFill>
                  <a:srgbClr val="F8FAFC"/>
                </a:solidFill>
              </a:rPr>
              <a:t>SKR Reputation Stake — </a:t>
            </a:r>
            <a:r>
              <a:rPr sz="1050">
                <a:solidFill>
                  <a:srgbClr val="CBD5E1"/>
                </a:solidFill>
              </a:rPr>
              <a:t>Stake 1,000 SKR bond; instant level up to 90% LTV tier with 50% APR discount.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4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3172968" cy="347472"/>
          </a:xfrm>
          <a:prstGeom prst="roundRect">
            <a:avLst/>
          </a:prstGeom>
          <a:solidFill>
            <a:srgbClr val="102D3C"/>
          </a:solidFill>
          <a:ln w="1270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4F195"/>
                </a:solidFill>
                <a:latin typeface="Trebuchet MS"/>
              </a:defRPr>
            </a:pPr>
            <a:r>
              <a:t>WHY BLOCKCHAIN · WHY SEEKER</a:t>
            </a:r>
          </a:p>
        </p:txBody>
      </p:sp>
      <p:sp>
        <p:nvSpPr>
          <p:cNvPr id="4" name="TextBox 3"/>
          <p:cNvSpPr txBox="1"/>
          <p:nvPr/>
        </p:nvSpPr>
        <p:spPr>
          <a:xfrm>
            <a:off x="731520" y="868680"/>
            <a:ext cx="10698480" cy="822960"/>
          </a:xfrm>
          <a:prstGeom prst="rect">
            <a:avLst/>
          </a:prstGeom>
          <a:noFill/>
        </p:spPr>
        <p:txBody>
          <a:bodyPr wrap="square" lIns="0" tIns="0" rIns="0" bIns="0">
            <a:spAutoFit/>
          </a:bodyPr>
          <a:lstStyle/>
          <a:p>
            <a:pPr>
              <a:defRPr sz="2800" b="1">
                <a:latin typeface="Trebuchet MS"/>
              </a:defRPr>
            </a:pPr>
            <a:r>
              <a:rPr>
                <a:solidFill>
                  <a:srgbClr val="F8FAFC"/>
                </a:solidFill>
              </a:rPr>
              <a:t>Remove the chain, and the escrow is </a:t>
            </a:r>
            <a:r>
              <a:rPr>
                <a:solidFill>
                  <a:srgbClr val="14F195"/>
                </a:solidFill>
              </a:rPr>
              <a:t>just a promise</a:t>
            </a:r>
            <a:r>
              <a:rPr>
                <a:solidFill>
                  <a:srgbClr val="F8FAFC"/>
                </a:solidFill>
              </a:rPr>
              <a:t>.</a:t>
            </a:r>
          </a:p>
          <a:p>
            <a:pPr>
              <a:spcBef>
                <a:spcPts val="400"/>
              </a:spcBef>
              <a:defRPr sz="1400">
                <a:solidFill>
                  <a:srgbClr val="94A3B8"/>
                </a:solidFill>
                <a:latin typeface="Arial"/>
              </a:defRPr>
            </a:pPr>
            <a:r>
              <a:t>The crypto necessity test: Why this fundamentally cannot exist on Web2 infrastructure.</a:t>
            </a:r>
          </a:p>
        </p:txBody>
      </p:sp>
      <p:sp>
        <p:nvSpPr>
          <p:cNvPr id="5" name="TextBox 4"/>
          <p:cNvSpPr txBox="1"/>
          <p:nvPr/>
        </p:nvSpPr>
        <p:spPr>
          <a:xfrm>
            <a:off x="731520" y="6492240"/>
            <a:ext cx="10698480" cy="274320"/>
          </a:xfrm>
          <a:prstGeom prst="rect">
            <a:avLst/>
          </a:prstGeom>
          <a:noFill/>
        </p:spPr>
        <p:txBody>
          <a:bodyPr wrap="none" lIns="0" tIns="0" rIns="0" bIns="0">
            <a:spAutoFit/>
          </a:bodyPr>
          <a:lstStyle/>
          <a:p>
            <a:pPr>
              <a:defRPr sz="950">
                <a:solidFill>
                  <a:srgbClr val="5A6E91"/>
                </a:solidFill>
                <a:latin typeface="Arial"/>
              </a:defRPr>
            </a:pPr>
            <a:r>
              <a:t>ClockLend · Solana Seeker Micro-Lending &amp; Social Pawns · CLOCK IN Hackathon 2026</a:t>
            </a:r>
          </a:p>
        </p:txBody>
      </p:sp>
      <p:sp>
        <p:nvSpPr>
          <p:cNvPr id="6" name="Rounded Rectangle 5"/>
          <p:cNvSpPr/>
          <p:nvPr/>
        </p:nvSpPr>
        <p:spPr>
          <a:xfrm>
            <a:off x="731520" y="1691640"/>
            <a:ext cx="5212080" cy="4480560"/>
          </a:xfrm>
          <a:prstGeom prst="roundRect">
            <a:avLst/>
          </a:prstGeom>
          <a:solidFill>
            <a:srgbClr val="182340"/>
          </a:solidFill>
          <a:ln w="1270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74519"/>
            <a:ext cx="4754880" cy="4114800"/>
          </a:xfrm>
          <a:prstGeom prst="rect">
            <a:avLst/>
          </a:prstGeom>
          <a:noFill/>
        </p:spPr>
        <p:txBody>
          <a:bodyPr wrap="square">
            <a:spAutoFit/>
          </a:bodyPr>
          <a:lstStyle/>
          <a:p>
            <a:pPr>
              <a:defRPr sz="2000" b="1">
                <a:solidFill>
                  <a:srgbClr val="14F195"/>
                </a:solidFill>
                <a:latin typeface="Trebuchet MS"/>
              </a:defRPr>
            </a:pPr>
            <a:r>
              <a:t>⛓️ What the Blockchain Makes Possible</a:t>
            </a:r>
          </a:p>
          <a:p>
            <a:pPr>
              <a:spcBef>
                <a:spcPts val="700"/>
              </a:spcBef>
            </a:pPr>
            <a:r>
              <a:rPr b="1" sz="1200">
                <a:solidFill>
                  <a:srgbClr val="F8FAFC"/>
                </a:solidFill>
              </a:rPr>
              <a:t>✔ Atomic PDA Escrows
</a:t>
            </a:r>
            <a:r>
              <a:rPr sz="1050">
                <a:solidFill>
                  <a:srgbClr val="CBD5E1"/>
                </a:solidFill>
              </a:rPr>
              <a:t>Collateral is locked cryptographically in non-custodial Program Derived Addresses. Neither ClockLend nor lenders can steal user collateral.</a:t>
            </a:r>
          </a:p>
          <a:p>
            <a:pPr>
              <a:spcBef>
                <a:spcPts val="700"/>
              </a:spcBef>
            </a:pPr>
            <a:r>
              <a:rPr b="1" sz="1200">
                <a:solidFill>
                  <a:srgbClr val="F8FAFC"/>
                </a:solidFill>
              </a:rPr>
              <a:t>✔ Pyth Pull Oracles
</a:t>
            </a:r>
            <a:r>
              <a:rPr sz="1050">
                <a:solidFill>
                  <a:srgbClr val="CBD5E1"/>
                </a:solidFill>
              </a:rPr>
              <a:t>On-chain valuation without centralized keeper bots or admin price feeds. Prices are verified on-demand inside the transaction.</a:t>
            </a:r>
          </a:p>
          <a:p>
            <a:pPr>
              <a:spcBef>
                <a:spcPts val="700"/>
              </a:spcBef>
            </a:pPr>
            <a:r>
              <a:rPr b="1" sz="1200">
                <a:solidFill>
                  <a:srgbClr val="F8FAFC"/>
                </a:solidFill>
              </a:rPr>
              <a:t>✔ Permissionless Credit
</a:t>
            </a:r>
            <a:r>
              <a:rPr sz="1050">
                <a:solidFill>
                  <a:srgbClr val="CBD5E1"/>
                </a:solidFill>
              </a:rPr>
              <a:t>Anyone on earth with a phone and collateral can borrow instantly without KYC hurdles, credit checks, or bank approvals.</a:t>
            </a:r>
          </a:p>
          <a:p>
            <a:pPr>
              <a:spcBef>
                <a:spcPts val="700"/>
              </a:spcBef>
            </a:pPr>
            <a:r>
              <a:rPr b="1" sz="1200">
                <a:solidFill>
                  <a:srgbClr val="F8FAFC"/>
                </a:solidFill>
              </a:rPr>
              <a:t>✔ Sovereign Credit Identity
</a:t>
            </a:r>
            <a:r>
              <a:rPr sz="1050">
                <a:solidFill>
                  <a:srgbClr val="CBD5E1"/>
                </a:solidFill>
              </a:rPr>
              <a:t>Reputation and default history are recorded transparently on-chain, creating a portable credit score that follows the wallet.</a:t>
            </a:r>
          </a:p>
        </p:txBody>
      </p:sp>
      <p:sp>
        <p:nvSpPr>
          <p:cNvPr id="8" name="Rounded Rectangle 7"/>
          <p:cNvSpPr/>
          <p:nvPr/>
        </p:nvSpPr>
        <p:spPr>
          <a:xfrm>
            <a:off x="6248095" y="1691640"/>
            <a:ext cx="5212080" cy="4480560"/>
          </a:xfrm>
          <a:prstGeom prst="roundRect">
            <a:avLst/>
          </a:prstGeom>
          <a:solidFill>
            <a:srgbClr val="182340"/>
          </a:solidFill>
          <a:ln w="1905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76695" y="1874519"/>
            <a:ext cx="4754880" cy="4114800"/>
          </a:xfrm>
          <a:prstGeom prst="rect">
            <a:avLst/>
          </a:prstGeom>
          <a:noFill/>
        </p:spPr>
        <p:txBody>
          <a:bodyPr wrap="square">
            <a:spAutoFit/>
          </a:bodyPr>
          <a:lstStyle/>
          <a:p>
            <a:pPr>
              <a:defRPr sz="2000" b="1">
                <a:solidFill>
                  <a:srgbClr val="00D4FF"/>
                </a:solidFill>
                <a:latin typeface="Trebuchet MS"/>
              </a:defRPr>
            </a:pPr>
            <a:r>
              <a:t>📱 Why the Seeker Is the Essential Unlock</a:t>
            </a:r>
          </a:p>
          <a:p>
            <a:pPr>
              <a:spcBef>
                <a:spcPts val="700"/>
              </a:spcBef>
            </a:pPr>
            <a:r>
              <a:rPr b="1" sz="1200">
                <a:solidFill>
                  <a:srgbClr val="F8FAFC"/>
                </a:solidFill>
              </a:rPr>
              <a:t>✔ Seed Vault Hardware Security
</a:t>
            </a:r>
            <a:r>
              <a:rPr sz="1050">
                <a:solidFill>
                  <a:srgbClr val="CBD5E1"/>
                </a:solidFill>
              </a:rPr>
              <a:t>Hardware-isolated key custody transforms a mobile phone into a tamper-proof financial terminal with 1-tap biometric authorizations.</a:t>
            </a:r>
          </a:p>
          <a:p>
            <a:pPr>
              <a:spcBef>
                <a:spcPts val="700"/>
              </a:spcBef>
            </a:pPr>
            <a:r>
              <a:rPr b="1" sz="1200">
                <a:solidFill>
                  <a:srgbClr val="F8FAFC"/>
                </a:solidFill>
              </a:rPr>
              <a:t>✔ Mobile-First Target Market
</a:t>
            </a:r>
            <a:r>
              <a:rPr sz="1050">
                <a:solidFill>
                  <a:srgbClr val="CBD5E1"/>
                </a:solidFill>
              </a:rPr>
              <a:t>The 1.4B unbanked population conducts 100% of their financial lives on mobile devices. Desktop DeFi completely misses them.</a:t>
            </a:r>
          </a:p>
          <a:p>
            <a:pPr>
              <a:spcBef>
                <a:spcPts val="700"/>
              </a:spcBef>
            </a:pPr>
            <a:r>
              <a:rPr b="1" sz="1200">
                <a:solidFill>
                  <a:srgbClr val="F8FAFC"/>
                </a:solidFill>
              </a:rPr>
              <a:t>✔ Human Social Grace Alerts
</a:t>
            </a:r>
            <a:r>
              <a:rPr sz="1050">
                <a:solidFill>
                  <a:srgbClr val="CBD5E1"/>
                </a:solidFill>
              </a:rPr>
              <a:t>Operating-system level push alerts notify borrowers and their circles hours before grace periods expire, enabling peer debt rescue.</a:t>
            </a:r>
          </a:p>
          <a:p>
            <a:pPr>
              <a:spcBef>
                <a:spcPts val="700"/>
              </a:spcBef>
            </a:pPr>
            <a:r>
              <a:rPr b="1" sz="1200">
                <a:solidFill>
                  <a:srgbClr val="F8FAFC"/>
                </a:solidFill>
              </a:rPr>
              <a:t>✔ NFC Proximity Lending
</a:t>
            </a:r>
            <a:r>
              <a:rPr sz="1050">
                <a:solidFill>
                  <a:srgbClr val="CBD5E1"/>
                </a:solidFill>
              </a:rPr>
              <a:t>Physical Seeker tap-to-borrow pairing brings community ROSCAs, merchant financing, and peer lending into the physical world.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3474720" cy="347472"/>
          </a:xfrm>
          <a:prstGeom prst="roundRect">
            <a:avLst/>
          </a:prstGeom>
          <a:solidFill>
            <a:srgbClr val="102D3C"/>
          </a:solidFill>
          <a:ln w="1270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4F195"/>
                </a:solidFill>
                <a:latin typeface="Trebuchet MS"/>
              </a:defRPr>
            </a:pPr>
            <a:r>
              <a:t>SECURITY &amp; FORMAL VERIFICATION</a:t>
            </a:r>
          </a:p>
        </p:txBody>
      </p:sp>
      <p:sp>
        <p:nvSpPr>
          <p:cNvPr id="4" name="TextBox 3"/>
          <p:cNvSpPr txBox="1"/>
          <p:nvPr/>
        </p:nvSpPr>
        <p:spPr>
          <a:xfrm>
            <a:off x="731520" y="868680"/>
            <a:ext cx="10698480" cy="822960"/>
          </a:xfrm>
          <a:prstGeom prst="rect">
            <a:avLst/>
          </a:prstGeom>
          <a:noFill/>
        </p:spPr>
        <p:txBody>
          <a:bodyPr wrap="square" lIns="0" tIns="0" rIns="0" bIns="0">
            <a:spAutoFit/>
          </a:bodyPr>
          <a:lstStyle/>
          <a:p>
            <a:pPr>
              <a:defRPr sz="2800" b="1">
                <a:latin typeface="Trebuchet MS"/>
              </a:defRPr>
            </a:pPr>
            <a:r>
              <a:rPr>
                <a:solidFill>
                  <a:srgbClr val="F8FAFC"/>
                </a:solidFill>
              </a:rPr>
              <a:t>Six audit rounds. 81 tests. </a:t>
            </a:r>
            <a:r>
              <a:rPr>
                <a:solidFill>
                  <a:srgbClr val="14F195"/>
                </a:solidFill>
              </a:rPr>
              <a:t>Zero shortcuts</a:t>
            </a:r>
            <a:r>
              <a:rPr>
                <a:solidFill>
                  <a:srgbClr val="F8FAFC"/>
                </a:solidFill>
              </a:rPr>
              <a:t>.</a:t>
            </a:r>
          </a:p>
          <a:p>
            <a:pPr>
              <a:spcBef>
                <a:spcPts val="400"/>
              </a:spcBef>
              <a:defRPr sz="1400">
                <a:solidFill>
                  <a:srgbClr val="94A3B8"/>
                </a:solidFill>
                <a:latin typeface="Arial"/>
              </a:defRPr>
            </a:pPr>
            <a:r>
              <a:t>Multi-pass security reviews with independent exploit hunts and formal invariant proofs.</a:t>
            </a:r>
          </a:p>
        </p:txBody>
      </p:sp>
      <p:sp>
        <p:nvSpPr>
          <p:cNvPr id="5" name="TextBox 4"/>
          <p:cNvSpPr txBox="1"/>
          <p:nvPr/>
        </p:nvSpPr>
        <p:spPr>
          <a:xfrm>
            <a:off x="731520" y="6492240"/>
            <a:ext cx="10698480" cy="274320"/>
          </a:xfrm>
          <a:prstGeom prst="rect">
            <a:avLst/>
          </a:prstGeom>
          <a:noFill/>
        </p:spPr>
        <p:txBody>
          <a:bodyPr wrap="none" lIns="0" tIns="0" rIns="0" bIns="0">
            <a:spAutoFit/>
          </a:bodyPr>
          <a:lstStyle/>
          <a:p>
            <a:pPr>
              <a:defRPr sz="950">
                <a:solidFill>
                  <a:srgbClr val="5A6E91"/>
                </a:solidFill>
                <a:latin typeface="Arial"/>
              </a:defRPr>
            </a:pPr>
            <a:r>
              <a:t>ClockLend · Solana Seeker Micro-Lending &amp; Social Pawns · CLOCK IN Hackathon 2026</a:t>
            </a:r>
          </a:p>
        </p:txBody>
      </p:sp>
      <p:sp>
        <p:nvSpPr>
          <p:cNvPr id="6" name="Rounded Rectangle 5"/>
          <p:cNvSpPr/>
          <p:nvPr/>
        </p:nvSpPr>
        <p:spPr>
          <a:xfrm>
            <a:off x="731520" y="1691640"/>
            <a:ext cx="2499055" cy="1325880"/>
          </a:xfrm>
          <a:prstGeom prst="roundRect">
            <a:avLst/>
          </a:prstGeom>
          <a:solidFill>
            <a:srgbClr val="182340"/>
          </a:solidFill>
          <a:ln w="1270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737360"/>
            <a:ext cx="2224735" cy="1234440"/>
          </a:xfrm>
          <a:prstGeom prst="rect">
            <a:avLst/>
          </a:prstGeom>
          <a:noFill/>
        </p:spPr>
        <p:txBody>
          <a:bodyPr wrap="none">
            <a:spAutoFit/>
          </a:bodyPr>
          <a:lstStyle/>
          <a:p>
            <a:pPr>
              <a:defRPr sz="2800" b="1">
                <a:solidFill>
                  <a:srgbClr val="14F195"/>
                </a:solidFill>
                <a:latin typeface="Trebuchet MS"/>
              </a:defRPr>
            </a:pPr>
            <a:r>
              <a:t>6</a:t>
            </a:r>
          </a:p>
          <a:p>
            <a:pPr>
              <a:defRPr sz="1100" b="1">
                <a:solidFill>
                  <a:srgbClr val="F8FAFC"/>
                </a:solidFill>
              </a:defRPr>
            </a:pPr>
            <a:r>
              <a:t>Independent Audit Passes</a:t>
            </a:r>
          </a:p>
          <a:p>
            <a:pPr>
              <a:defRPr sz="900">
                <a:solidFill>
                  <a:srgbClr val="94A3B8"/>
                </a:solidFill>
              </a:defRPr>
            </a:pPr>
            <a:r>
              <a:t>EthelSec, invariant analysis &amp; red-team exploit hunts</a:t>
            </a:r>
          </a:p>
        </p:txBody>
      </p:sp>
      <p:sp>
        <p:nvSpPr>
          <p:cNvPr id="8" name="Rounded Rectangle 7"/>
          <p:cNvSpPr/>
          <p:nvPr/>
        </p:nvSpPr>
        <p:spPr>
          <a:xfrm>
            <a:off x="3474720" y="1691640"/>
            <a:ext cx="2499055" cy="1325880"/>
          </a:xfrm>
          <a:prstGeom prst="roundRect">
            <a:avLst/>
          </a:prstGeom>
          <a:solidFill>
            <a:srgbClr val="182340"/>
          </a:solidFill>
          <a:ln w="1270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11879" y="1737360"/>
            <a:ext cx="2224735" cy="1234440"/>
          </a:xfrm>
          <a:prstGeom prst="rect">
            <a:avLst/>
          </a:prstGeom>
          <a:noFill/>
        </p:spPr>
        <p:txBody>
          <a:bodyPr wrap="none">
            <a:spAutoFit/>
          </a:bodyPr>
          <a:lstStyle/>
          <a:p>
            <a:pPr>
              <a:defRPr sz="2800" b="1">
                <a:solidFill>
                  <a:srgbClr val="00D4FF"/>
                </a:solidFill>
                <a:latin typeface="Trebuchet MS"/>
              </a:defRPr>
            </a:pPr>
            <a:r>
              <a:t>81 / 81</a:t>
            </a:r>
          </a:p>
          <a:p>
            <a:pPr>
              <a:defRPr sz="1100" b="1">
                <a:solidFill>
                  <a:srgbClr val="F8FAFC"/>
                </a:solidFill>
              </a:defRPr>
            </a:pPr>
            <a:r>
              <a:t>Regression Tests Passing</a:t>
            </a:r>
          </a:p>
          <a:p>
            <a:pPr>
              <a:defRPr sz="900">
                <a:solidFill>
                  <a:srgbClr val="94A3B8"/>
                </a:solidFill>
              </a:defRPr>
            </a:pPr>
            <a:r>
              <a:t>Including property-based fuzz tests for solvency invariants</a:t>
            </a:r>
          </a:p>
        </p:txBody>
      </p:sp>
      <p:sp>
        <p:nvSpPr>
          <p:cNvPr id="10" name="Rounded Rectangle 9"/>
          <p:cNvSpPr/>
          <p:nvPr/>
        </p:nvSpPr>
        <p:spPr>
          <a:xfrm>
            <a:off x="6217920" y="1691640"/>
            <a:ext cx="2499055" cy="1325880"/>
          </a:xfrm>
          <a:prstGeom prst="roundRect">
            <a:avLst/>
          </a:prstGeom>
          <a:solidFill>
            <a:srgbClr val="182340"/>
          </a:solidFill>
          <a:ln w="1270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737360"/>
            <a:ext cx="2224735" cy="1234440"/>
          </a:xfrm>
          <a:prstGeom prst="rect">
            <a:avLst/>
          </a:prstGeom>
          <a:noFill/>
        </p:spPr>
        <p:txBody>
          <a:bodyPr wrap="none">
            <a:spAutoFit/>
          </a:bodyPr>
          <a:lstStyle/>
          <a:p>
            <a:pPr>
              <a:defRPr sz="2800" b="1">
                <a:solidFill>
                  <a:srgbClr val="FFB020"/>
                </a:solidFill>
                <a:latin typeface="Trebuchet MS"/>
              </a:defRPr>
            </a:pPr>
            <a:r>
              <a:t>2</a:t>
            </a:r>
          </a:p>
          <a:p>
            <a:pPr>
              <a:defRPr sz="1100" b="1">
                <a:solidFill>
                  <a:srgbClr val="F8FAFC"/>
                </a:solidFill>
              </a:defRPr>
            </a:pPr>
            <a:r>
              <a:t>Adversarial PoC Hunts</a:t>
            </a:r>
          </a:p>
          <a:p>
            <a:pPr>
              <a:defRPr sz="900">
                <a:solidFill>
                  <a:srgbClr val="94A3B8"/>
                </a:solidFill>
              </a:defRPr>
            </a:pPr>
            <a:r>
              <a:t>All criticals reproduced as executable tests and proven closed</a:t>
            </a:r>
          </a:p>
        </p:txBody>
      </p:sp>
      <p:sp>
        <p:nvSpPr>
          <p:cNvPr id="12" name="Rounded Rectangle 11"/>
          <p:cNvSpPr/>
          <p:nvPr/>
        </p:nvSpPr>
        <p:spPr>
          <a:xfrm>
            <a:off x="8961120" y="1691640"/>
            <a:ext cx="2499055" cy="1325880"/>
          </a:xfrm>
          <a:prstGeom prst="roundRect">
            <a:avLst/>
          </a:prstGeom>
          <a:solidFill>
            <a:srgbClr val="182340"/>
          </a:solidFill>
          <a:ln w="1270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98280" y="1737360"/>
            <a:ext cx="2224735" cy="1234440"/>
          </a:xfrm>
          <a:prstGeom prst="rect">
            <a:avLst/>
          </a:prstGeom>
          <a:noFill/>
        </p:spPr>
        <p:txBody>
          <a:bodyPr wrap="none">
            <a:spAutoFit/>
          </a:bodyPr>
          <a:lstStyle/>
          <a:p>
            <a:pPr>
              <a:defRPr sz="2800" b="1">
                <a:solidFill>
                  <a:srgbClr val="F8FAFC"/>
                </a:solidFill>
                <a:latin typeface="Trebuchet MS"/>
              </a:defRPr>
            </a:pPr>
            <a:r>
              <a:t>0</a:t>
            </a:r>
          </a:p>
          <a:p>
            <a:pPr>
              <a:defRPr sz="1100" b="1">
                <a:solidFill>
                  <a:srgbClr val="F8FAFC"/>
                </a:solidFill>
              </a:defRPr>
            </a:pPr>
            <a:r>
              <a:t>Centralized Pricing Keys</a:t>
            </a:r>
          </a:p>
          <a:p>
            <a:pPr>
              <a:defRPr sz="900">
                <a:solidFill>
                  <a:srgbClr val="94A3B8"/>
                </a:solidFill>
              </a:defRPr>
            </a:pPr>
            <a:r>
              <a:t>Zero keeper dependencies; tamper-proof on-chain Pyth feeds</a:t>
            </a:r>
          </a:p>
        </p:txBody>
      </p:sp>
      <p:sp>
        <p:nvSpPr>
          <p:cNvPr id="14" name="Rounded Rectangle 13"/>
          <p:cNvSpPr/>
          <p:nvPr/>
        </p:nvSpPr>
        <p:spPr>
          <a:xfrm>
            <a:off x="731520" y="3200400"/>
            <a:ext cx="5242255" cy="1280160"/>
          </a:xfrm>
          <a:prstGeom prst="roundRect">
            <a:avLst/>
          </a:prstGeom>
          <a:solidFill>
            <a:srgbClr val="182340"/>
          </a:solidFill>
          <a:ln w="1270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291840"/>
            <a:ext cx="4876495" cy="1097280"/>
          </a:xfrm>
          <a:prstGeom prst="rect">
            <a:avLst/>
          </a:prstGeom>
          <a:noFill/>
        </p:spPr>
        <p:txBody>
          <a:bodyPr wrap="square">
            <a:spAutoFit/>
          </a:bodyPr>
          <a:lstStyle/>
          <a:p>
            <a:pPr>
              <a:defRPr sz="1300" b="1">
                <a:solidFill>
                  <a:srgbClr val="14F195"/>
                </a:solidFill>
                <a:latin typeface="Trebuchet MS"/>
              </a:defRPr>
            </a:pPr>
            <a:r>
              <a:t>🔒 Type Confusion Elimination</a:t>
            </a:r>
          </a:p>
          <a:p>
            <a:pPr>
              <a:spcBef>
                <a:spcPts val="300"/>
              </a:spcBef>
              <a:defRPr sz="1100">
                <a:solidFill>
                  <a:srgbClr val="CBD5E1"/>
                </a:solidFill>
              </a:defRPr>
            </a:pPr>
            <a:r>
              <a:t>Enforced strict 8-byte discriminators (CLK_POOL, CLK_LOAN, CLK_PAWN) and fail-closed AccountKind dispatch across all instructions.</a:t>
            </a:r>
          </a:p>
        </p:txBody>
      </p:sp>
      <p:sp>
        <p:nvSpPr>
          <p:cNvPr id="16" name="Rounded Rectangle 15"/>
          <p:cNvSpPr/>
          <p:nvPr/>
        </p:nvSpPr>
        <p:spPr>
          <a:xfrm>
            <a:off x="6217920" y="3200400"/>
            <a:ext cx="5242255" cy="1280160"/>
          </a:xfrm>
          <a:prstGeom prst="roundRect">
            <a:avLst/>
          </a:prstGeom>
          <a:solidFill>
            <a:srgbClr val="182340"/>
          </a:solidFill>
          <a:ln w="1270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3291840"/>
            <a:ext cx="4876495" cy="1097280"/>
          </a:xfrm>
          <a:prstGeom prst="rect">
            <a:avLst/>
          </a:prstGeom>
          <a:noFill/>
        </p:spPr>
        <p:txBody>
          <a:bodyPr wrap="square">
            <a:spAutoFit/>
          </a:bodyPr>
          <a:lstStyle/>
          <a:p>
            <a:pPr>
              <a:defRPr sz="1300" b="1">
                <a:solidFill>
                  <a:srgbClr val="14F195"/>
                </a:solidFill>
                <a:latin typeface="Trebuchet MS"/>
              </a:defRPr>
            </a:pPr>
            <a:r>
              <a:t>🛡️ Admin Race &amp; Root Elimination</a:t>
            </a:r>
          </a:p>
          <a:p>
            <a:pPr>
              <a:spcBef>
                <a:spcPts val="300"/>
              </a:spcBef>
              <a:defRPr sz="1100">
                <a:solidFill>
                  <a:srgbClr val="CBD5E1"/>
                </a:solidFill>
              </a:defRPr>
            </a:pPr>
            <a:r>
              <a:t>Removed hardcoded admin roots; validated upgrade authority solely against live BPF UpgradeableLoader ProgramData (13..45 offset layout).</a:t>
            </a:r>
          </a:p>
        </p:txBody>
      </p:sp>
      <p:sp>
        <p:nvSpPr>
          <p:cNvPr id="18" name="Rounded Rectangle 17"/>
          <p:cNvSpPr/>
          <p:nvPr/>
        </p:nvSpPr>
        <p:spPr>
          <a:xfrm>
            <a:off x="731520" y="4617720"/>
            <a:ext cx="5242255" cy="1280160"/>
          </a:xfrm>
          <a:prstGeom prst="roundRect">
            <a:avLst/>
          </a:prstGeom>
          <a:solidFill>
            <a:srgbClr val="182340"/>
          </a:solidFill>
          <a:ln w="1270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709159"/>
            <a:ext cx="4876495" cy="1097280"/>
          </a:xfrm>
          <a:prstGeom prst="rect">
            <a:avLst/>
          </a:prstGeom>
          <a:noFill/>
        </p:spPr>
        <p:txBody>
          <a:bodyPr wrap="square">
            <a:spAutoFit/>
          </a:bodyPr>
          <a:lstStyle/>
          <a:p>
            <a:pPr>
              <a:defRPr sz="1300" b="1">
                <a:solidFill>
                  <a:srgbClr val="14F195"/>
                </a:solidFill>
                <a:latin typeface="Trebuchet MS"/>
              </a:defRPr>
            </a:pPr>
            <a:r>
              <a:t>⚡ Escrow Front-Run Defense</a:t>
            </a:r>
          </a:p>
          <a:p>
            <a:pPr>
              <a:spcBef>
                <a:spcPts val="300"/>
              </a:spcBef>
              <a:defRPr sz="1100">
                <a:solidFill>
                  <a:srgbClr val="CBD5E1"/>
                </a:solidFill>
              </a:defRPr>
            </a:pPr>
            <a:r>
              <a:t>Asserted program PDA ownership across all 5 token escrow sites (SKR escrow, collateral escrow, pool vault) to reject pre-created accounts.</a:t>
            </a:r>
          </a:p>
        </p:txBody>
      </p:sp>
      <p:sp>
        <p:nvSpPr>
          <p:cNvPr id="20" name="Rounded Rectangle 19"/>
          <p:cNvSpPr/>
          <p:nvPr/>
        </p:nvSpPr>
        <p:spPr>
          <a:xfrm>
            <a:off x="6217920" y="4617720"/>
            <a:ext cx="5242255" cy="1280160"/>
          </a:xfrm>
          <a:prstGeom prst="roundRect">
            <a:avLst/>
          </a:prstGeom>
          <a:solidFill>
            <a:srgbClr val="182340"/>
          </a:solidFill>
          <a:ln w="1270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4709159"/>
            <a:ext cx="4876495" cy="1097280"/>
          </a:xfrm>
          <a:prstGeom prst="rect">
            <a:avLst/>
          </a:prstGeom>
          <a:noFill/>
        </p:spPr>
        <p:txBody>
          <a:bodyPr wrap="square">
            <a:spAutoFit/>
          </a:bodyPr>
          <a:lstStyle/>
          <a:p>
            <a:pPr>
              <a:defRPr sz="1300" b="1">
                <a:solidFill>
                  <a:srgbClr val="14F195"/>
                </a:solidFill>
                <a:latin typeface="Trebuchet MS"/>
              </a:defRPr>
            </a:pPr>
            <a:r>
              <a:t>🌊 SKR Collateral Liquidation Restoration</a:t>
            </a:r>
          </a:p>
          <a:p>
            <a:pPr>
              <a:spcBef>
                <a:spcPts val="300"/>
              </a:spcBef>
              <a:defRPr sz="1100">
                <a:solidFill>
                  <a:srgbClr val="CBD5E1"/>
                </a:solidFill>
              </a:defRPr>
            </a:pPr>
            <a:r>
              <a:t>Replaced mint classifier with role-based Treasury dispatch in ClaimDefault, ensuring 5% protocol margin and collateral transfers execute reliably.</a:t>
            </a:r>
          </a:p>
        </p:txBody>
      </p:sp>
      <p:sp>
        <p:nvSpPr>
          <p:cNvPr id="22" name="Rounded Rectangle 21"/>
          <p:cNvSpPr/>
          <p:nvPr/>
        </p:nvSpPr>
        <p:spPr>
          <a:xfrm>
            <a:off x="731520" y="5715000"/>
            <a:ext cx="10728655" cy="594360"/>
          </a:xfrm>
          <a:prstGeom prst="roundRect">
            <a:avLst/>
          </a:prstGeom>
          <a:solidFill>
            <a:srgbClr val="102D3C"/>
          </a:solidFill>
          <a:ln w="1905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760720"/>
            <a:ext cx="10362895" cy="502920"/>
          </a:xfrm>
          <a:prstGeom prst="rect">
            <a:avLst/>
          </a:prstGeom>
          <a:noFill/>
        </p:spPr>
        <p:txBody>
          <a:bodyPr wrap="none">
            <a:spAutoFit/>
          </a:bodyPr>
          <a:lstStyle/>
          <a:p>
            <a:pPr algn="ctr"/>
            <a:r>
              <a:rPr b="1" sz="1300">
                <a:solidFill>
                  <a:srgbClr val="00D4FF"/>
                </a:solidFill>
              </a:rPr>
              <a:t>Deployed Program: </a:t>
            </a:r>
            <a:r>
              <a:rPr sz="1200">
                <a:solidFill>
                  <a:srgbClr val="F8FAFC"/>
                </a:solidFill>
                <a:latin typeface="Consolas"/>
              </a:rPr>
              <a:t>HAjGxuih14imCMaWvCnJQ3nSdWmS8PQKzp74gyAgjsH3  ·  Hash-Verified Live on Mainnet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4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2368296" cy="347472"/>
          </a:xfrm>
          <a:prstGeom prst="roundRect">
            <a:avLst/>
          </a:prstGeom>
          <a:solidFill>
            <a:srgbClr val="102D3C"/>
          </a:solidFill>
          <a:ln w="1270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4F195"/>
                </a:solidFill>
                <a:latin typeface="Trebuchet MS"/>
              </a:defRPr>
            </a:pPr>
            <a:r>
              <a:t>DELIVERED &amp; SHIPPED</a:t>
            </a:r>
          </a:p>
        </p:txBody>
      </p:sp>
      <p:sp>
        <p:nvSpPr>
          <p:cNvPr id="4" name="TextBox 3"/>
          <p:cNvSpPr txBox="1"/>
          <p:nvPr/>
        </p:nvSpPr>
        <p:spPr>
          <a:xfrm>
            <a:off x="731520" y="868680"/>
            <a:ext cx="10698480" cy="822960"/>
          </a:xfrm>
          <a:prstGeom prst="rect">
            <a:avLst/>
          </a:prstGeom>
          <a:noFill/>
        </p:spPr>
        <p:txBody>
          <a:bodyPr wrap="square" lIns="0" tIns="0" rIns="0" bIns="0">
            <a:spAutoFit/>
          </a:bodyPr>
          <a:lstStyle/>
          <a:p>
            <a:pPr>
              <a:defRPr sz="2800" b="1">
                <a:latin typeface="Trebuchet MS"/>
              </a:defRPr>
            </a:pPr>
            <a:r>
              <a:rPr>
                <a:solidFill>
                  <a:srgbClr val="F8FAFC"/>
                </a:solidFill>
              </a:rPr>
              <a:t>Shipped, </a:t>
            </a:r>
            <a:r>
              <a:rPr>
                <a:solidFill>
                  <a:srgbClr val="14F195"/>
                </a:solidFill>
              </a:rPr>
              <a:t>not slides</a:t>
            </a:r>
            <a:r>
              <a:rPr>
                <a:solidFill>
                  <a:srgbClr val="F8FAFC"/>
                </a:solidFill>
              </a:rPr>
              <a:t>.</a:t>
            </a:r>
          </a:p>
          <a:p>
            <a:pPr>
              <a:spcBef>
                <a:spcPts val="400"/>
              </a:spcBef>
              <a:defRPr sz="1400">
                <a:solidFill>
                  <a:srgbClr val="94A3B8"/>
                </a:solidFill>
                <a:latin typeface="Arial"/>
              </a:defRPr>
            </a:pPr>
            <a:r>
              <a:t>Production-ready code, live mainnet contracts, and a complete publishing pipeline.</a:t>
            </a:r>
          </a:p>
        </p:txBody>
      </p:sp>
      <p:sp>
        <p:nvSpPr>
          <p:cNvPr id="5" name="TextBox 4"/>
          <p:cNvSpPr txBox="1"/>
          <p:nvPr/>
        </p:nvSpPr>
        <p:spPr>
          <a:xfrm>
            <a:off x="731520" y="6492240"/>
            <a:ext cx="10698480" cy="274320"/>
          </a:xfrm>
          <a:prstGeom prst="rect">
            <a:avLst/>
          </a:prstGeom>
          <a:noFill/>
        </p:spPr>
        <p:txBody>
          <a:bodyPr wrap="none" lIns="0" tIns="0" rIns="0" bIns="0">
            <a:spAutoFit/>
          </a:bodyPr>
          <a:lstStyle/>
          <a:p>
            <a:pPr>
              <a:defRPr sz="950">
                <a:solidFill>
                  <a:srgbClr val="5A6E91"/>
                </a:solidFill>
                <a:latin typeface="Arial"/>
              </a:defRPr>
            </a:pPr>
            <a:r>
              <a:t>ClockLend · Solana Seeker Micro-Lending &amp; Social Pawns · CLOCK IN Hackathon 2026</a:t>
            </a:r>
          </a:p>
        </p:txBody>
      </p:sp>
      <p:sp>
        <p:nvSpPr>
          <p:cNvPr id="6" name="Rounded Rectangle 5"/>
          <p:cNvSpPr/>
          <p:nvPr/>
        </p:nvSpPr>
        <p:spPr>
          <a:xfrm>
            <a:off x="731520" y="1691640"/>
            <a:ext cx="3413455" cy="3657600"/>
          </a:xfrm>
          <a:prstGeom prst="roundRect">
            <a:avLst/>
          </a:prstGeom>
          <a:solidFill>
            <a:srgbClr val="182340"/>
          </a:solidFill>
          <a:ln w="1270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3047695" cy="3383280"/>
          </a:xfrm>
          <a:prstGeom prst="rect">
            <a:avLst/>
          </a:prstGeom>
          <a:noFill/>
        </p:spPr>
        <p:txBody>
          <a:bodyPr wrap="square">
            <a:spAutoFit/>
          </a:bodyPr>
          <a:lstStyle/>
          <a:p>
            <a:pPr>
              <a:defRPr sz="1800" b="1">
                <a:solidFill>
                  <a:srgbClr val="14F195"/>
                </a:solidFill>
                <a:latin typeface="Trebuchet MS"/>
              </a:defRPr>
            </a:pPr>
            <a:r>
              <a:t>🚀 Solana Mainnet</a:t>
            </a:r>
          </a:p>
          <a:p>
            <a:pPr>
              <a:spcBef>
                <a:spcPts val="200"/>
              </a:spcBef>
              <a:defRPr sz="1100" b="1">
                <a:solidFill>
                  <a:srgbClr val="F8FAFC"/>
                </a:solidFill>
              </a:defRPr>
            </a:pPr>
            <a:r>
              <a:t>Deployed &amp; Verified</a:t>
            </a:r>
          </a:p>
          <a:p>
            <a:pPr>
              <a:spcBef>
                <a:spcPts val="800"/>
              </a:spcBef>
            </a:pPr>
            <a:r>
              <a:rPr sz="1100">
                <a:solidFill>
                  <a:srgbClr val="CBD5E1"/>
                </a:solidFill>
              </a:rPr>
              <a:t>• 282 KB optimized native Rust ELF</a:t>
            </a:r>
          </a:p>
          <a:p>
            <a:pPr>
              <a:spcBef>
                <a:spcPts val="800"/>
              </a:spcBef>
            </a:pPr>
            <a:r>
              <a:rPr sz="1100">
                <a:solidFill>
                  <a:srgbClr val="CBD5E1"/>
                </a:solidFill>
              </a:rPr>
              <a:t>• Zero Anchor bloat, sub-millisecond execution</a:t>
            </a:r>
          </a:p>
          <a:p>
            <a:pPr>
              <a:spcBef>
                <a:spcPts val="800"/>
              </a:spcBef>
            </a:pPr>
            <a:r>
              <a:rPr sz="1100">
                <a:solidFill>
                  <a:srgbClr val="CBD5E1"/>
                </a:solidFill>
              </a:rPr>
              <a:t>• Treasury PDA initialized and funded</a:t>
            </a:r>
          </a:p>
          <a:p>
            <a:pPr>
              <a:spcBef>
                <a:spcPts val="800"/>
              </a:spcBef>
            </a:pPr>
            <a:r>
              <a:rPr sz="1100">
                <a:solidFill>
                  <a:srgbClr val="CBD5E1"/>
                </a:solidFill>
              </a:rPr>
              <a:t>• Genesis Seeker Lending Desk seeded live</a:t>
            </a:r>
          </a:p>
          <a:p>
            <a:pPr>
              <a:spcBef>
                <a:spcPts val="800"/>
              </a:spcBef>
            </a:pPr>
            <a:r>
              <a:rPr sz="1100">
                <a:solidFill>
                  <a:srgbClr val="CBD5E1"/>
                </a:solidFill>
              </a:rPr>
              <a:t>• Pyth pull oracles wired for SOL &amp; SKR</a:t>
            </a:r>
          </a:p>
        </p:txBody>
      </p:sp>
      <p:sp>
        <p:nvSpPr>
          <p:cNvPr id="8" name="Rounded Rectangle 7"/>
          <p:cNvSpPr/>
          <p:nvPr/>
        </p:nvSpPr>
        <p:spPr>
          <a:xfrm>
            <a:off x="4389120" y="1691640"/>
            <a:ext cx="3413455" cy="3657600"/>
          </a:xfrm>
          <a:prstGeom prst="roundRect">
            <a:avLst/>
          </a:prstGeom>
          <a:solidFill>
            <a:srgbClr val="182340"/>
          </a:solidFill>
          <a:ln w="1270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828800"/>
            <a:ext cx="3047695" cy="3383280"/>
          </a:xfrm>
          <a:prstGeom prst="rect">
            <a:avLst/>
          </a:prstGeom>
          <a:noFill/>
        </p:spPr>
        <p:txBody>
          <a:bodyPr wrap="square">
            <a:spAutoFit/>
          </a:bodyPr>
          <a:lstStyle/>
          <a:p>
            <a:pPr>
              <a:defRPr sz="1800" b="1">
                <a:solidFill>
                  <a:srgbClr val="00D4FF"/>
                </a:solidFill>
                <a:latin typeface="Trebuchet MS"/>
              </a:defRPr>
            </a:pPr>
            <a:r>
              <a:t>📱 Seeker Native App</a:t>
            </a:r>
          </a:p>
          <a:p>
            <a:pPr>
              <a:spcBef>
                <a:spcPts val="200"/>
              </a:spcBef>
              <a:defRPr sz="1100" b="1">
                <a:solidFill>
                  <a:srgbClr val="F8FAFC"/>
                </a:solidFill>
              </a:defRPr>
            </a:pPr>
            <a:r>
              <a:t>Installed on Hardware</a:t>
            </a:r>
          </a:p>
          <a:p>
            <a:pPr>
              <a:spcBef>
                <a:spcPts val="800"/>
              </a:spcBef>
            </a:pPr>
            <a:r>
              <a:rPr sz="1100">
                <a:solidFill>
                  <a:srgbClr val="CBD5E1"/>
                </a:solidFill>
              </a:rPr>
              <a:t>• Running on physical Seeker hardware</a:t>
            </a:r>
          </a:p>
          <a:p>
            <a:pPr>
              <a:spcBef>
                <a:spcPts val="800"/>
              </a:spcBef>
            </a:pPr>
            <a:r>
              <a:rPr sz="1100">
                <a:solidFill>
                  <a:srgbClr val="CBD5E1"/>
                </a:solidFill>
              </a:rPr>
              <a:t>• MWA 2.0 &amp; Seed Vault biometric integration</a:t>
            </a:r>
          </a:p>
          <a:p>
            <a:pPr>
              <a:spcBef>
                <a:spcPts val="800"/>
              </a:spcBef>
            </a:pPr>
            <a:r>
              <a:rPr sz="1100">
                <a:solidFill>
                  <a:srgbClr val="CBD5E1"/>
                </a:solidFill>
              </a:rPr>
              <a:t>• Real-time countdown settlement clocks</a:t>
            </a:r>
          </a:p>
          <a:p>
            <a:pPr>
              <a:spcBef>
                <a:spcPts val="800"/>
              </a:spcBef>
            </a:pPr>
            <a:r>
              <a:rPr sz="1100">
                <a:solidFill>
                  <a:srgbClr val="CBD5E1"/>
                </a:solidFill>
              </a:rPr>
              <a:t>• APK compiled and ready for dApp Store</a:t>
            </a:r>
          </a:p>
          <a:p>
            <a:pPr>
              <a:spcBef>
                <a:spcPts val="800"/>
              </a:spcBef>
            </a:pPr>
            <a:r>
              <a:rPr sz="1100">
                <a:solidFill>
                  <a:srgbClr val="CBD5E1"/>
                </a:solidFill>
              </a:rPr>
              <a:t>• Full fail-closed biometric app locking</a:t>
            </a:r>
          </a:p>
        </p:txBody>
      </p:sp>
      <p:sp>
        <p:nvSpPr>
          <p:cNvPr id="10" name="Rounded Rectangle 9"/>
          <p:cNvSpPr/>
          <p:nvPr/>
        </p:nvSpPr>
        <p:spPr>
          <a:xfrm>
            <a:off x="8046720" y="1691640"/>
            <a:ext cx="3413455" cy="3657600"/>
          </a:xfrm>
          <a:prstGeom prst="roundRect">
            <a:avLst/>
          </a:prstGeom>
          <a:solidFill>
            <a:srgbClr val="182340"/>
          </a:solidFill>
          <a:ln w="1270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828800"/>
            <a:ext cx="3047695" cy="3383280"/>
          </a:xfrm>
          <a:prstGeom prst="rect">
            <a:avLst/>
          </a:prstGeom>
          <a:noFill/>
        </p:spPr>
        <p:txBody>
          <a:bodyPr wrap="square">
            <a:spAutoFit/>
          </a:bodyPr>
          <a:lstStyle/>
          <a:p>
            <a:pPr>
              <a:defRPr sz="1800" b="1">
                <a:solidFill>
                  <a:srgbClr val="FFB020"/>
                </a:solidFill>
                <a:latin typeface="Trebuchet MS"/>
              </a:defRPr>
            </a:pPr>
            <a:r>
              <a:t>⚙️ Autonomous Pipeline</a:t>
            </a:r>
          </a:p>
          <a:p>
            <a:pPr>
              <a:spcBef>
                <a:spcPts val="200"/>
              </a:spcBef>
              <a:defRPr sz="1100" b="1">
                <a:solidFill>
                  <a:srgbClr val="F8FAFC"/>
                </a:solidFill>
              </a:defRPr>
            </a:pPr>
            <a:r>
              <a:t>Zero Keeper Dependency</a:t>
            </a:r>
          </a:p>
          <a:p>
            <a:pPr>
              <a:spcBef>
                <a:spcPts val="800"/>
              </a:spcBef>
            </a:pPr>
            <a:r>
              <a:rPr sz="1100">
                <a:solidFill>
                  <a:srgbClr val="CBD5E1"/>
                </a:solidFill>
              </a:rPr>
              <a:t>• Mainnet deployment fully automated</a:t>
            </a:r>
          </a:p>
          <a:p>
            <a:pPr>
              <a:spcBef>
                <a:spcPts val="800"/>
              </a:spcBef>
            </a:pPr>
            <a:r>
              <a:rPr sz="1100">
                <a:solidFill>
                  <a:srgbClr val="CBD5E1"/>
                </a:solidFill>
              </a:rPr>
              <a:t>• Auto-closing deploy buffer (rent refunded)</a:t>
            </a:r>
          </a:p>
          <a:p>
            <a:pPr>
              <a:spcBef>
                <a:spcPts val="800"/>
              </a:spcBef>
            </a:pPr>
            <a:r>
              <a:rPr sz="1100">
                <a:solidFill>
                  <a:srgbClr val="CBD5E1"/>
                </a:solidFill>
              </a:rPr>
              <a:t>• CoinGecko backup price keeper script</a:t>
            </a:r>
          </a:p>
          <a:p>
            <a:pPr>
              <a:spcBef>
                <a:spcPts val="800"/>
              </a:spcBef>
            </a:pPr>
            <a:r>
              <a:rPr sz="1100">
                <a:solidFill>
                  <a:srgbClr val="CBD5E1"/>
                </a:solidFill>
              </a:rPr>
              <a:t>• Self-healing oracle pull updates on borrow</a:t>
            </a:r>
          </a:p>
          <a:p>
            <a:pPr>
              <a:spcBef>
                <a:spcPts val="800"/>
              </a:spcBef>
            </a:pPr>
            <a:r>
              <a:rPr sz="1100">
                <a:solidFill>
                  <a:srgbClr val="CBD5E1"/>
                </a:solidFill>
              </a:rPr>
              <a:t>• No centralized backend database required</a:t>
            </a:r>
          </a:p>
        </p:txBody>
      </p:sp>
      <p:sp>
        <p:nvSpPr>
          <p:cNvPr id="12" name="Rounded Rectangle 11"/>
          <p:cNvSpPr/>
          <p:nvPr/>
        </p:nvSpPr>
        <p:spPr>
          <a:xfrm>
            <a:off x="731520" y="5532120"/>
            <a:ext cx="10728655" cy="777240"/>
          </a:xfrm>
          <a:prstGeom prst="roundRect">
            <a:avLst/>
          </a:prstGeom>
          <a:solidFill>
            <a:srgbClr val="102D3C"/>
          </a:solidFill>
          <a:ln w="1905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577840"/>
            <a:ext cx="10362895" cy="685800"/>
          </a:xfrm>
          <a:prstGeom prst="rect">
            <a:avLst/>
          </a:prstGeom>
          <a:noFill/>
        </p:spPr>
        <p:txBody>
          <a:bodyPr wrap="square">
            <a:spAutoFit/>
          </a:bodyPr>
          <a:lstStyle/>
          <a:p>
            <a:pPr algn="ctr"/>
            <a:r>
              <a:rPr b="1" sz="1300">
                <a:solidFill>
                  <a:srgbClr val="FFB020"/>
                </a:solidFill>
              </a:rPr>
              <a:t>Honest Traction: </a:t>
            </a:r>
            <a:r>
              <a:rPr sz="1200">
                <a:solidFill>
                  <a:srgbClr val="F8FAFC"/>
                </a:solidFill>
              </a:rPr>
              <a:t>What we did NOT fabricate: fake DAU or wash-borrowed volume. In lending, an unpatched bug costs users real collateral. We spent the hackathon mathematically proving the settlement layer.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3776472" cy="347472"/>
          </a:xfrm>
          <a:prstGeom prst="roundRect">
            <a:avLst/>
          </a:prstGeom>
          <a:solidFill>
            <a:srgbClr val="102D3C"/>
          </a:solidFill>
          <a:ln w="1270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4F195"/>
                </a:solidFill>
                <a:latin typeface="Trebuchet MS"/>
              </a:defRPr>
            </a:pPr>
            <a:r>
              <a:t>THE $10,000 SKR INTEGRATION TRACK</a:t>
            </a:r>
          </a:p>
        </p:txBody>
      </p:sp>
      <p:sp>
        <p:nvSpPr>
          <p:cNvPr id="4" name="TextBox 3"/>
          <p:cNvSpPr txBox="1"/>
          <p:nvPr/>
        </p:nvSpPr>
        <p:spPr>
          <a:xfrm>
            <a:off x="731520" y="868680"/>
            <a:ext cx="10698480" cy="822960"/>
          </a:xfrm>
          <a:prstGeom prst="rect">
            <a:avLst/>
          </a:prstGeom>
          <a:noFill/>
        </p:spPr>
        <p:txBody>
          <a:bodyPr wrap="square" lIns="0" tIns="0" rIns="0" bIns="0">
            <a:spAutoFit/>
          </a:bodyPr>
          <a:lstStyle/>
          <a:p>
            <a:pPr>
              <a:defRPr sz="2800" b="1">
                <a:latin typeface="Trebuchet MS"/>
              </a:defRPr>
            </a:pPr>
            <a:r>
              <a:rPr>
                <a:solidFill>
                  <a:srgbClr val="F8FAFC"/>
                </a:solidFill>
              </a:rPr>
              <a:t>SKR isn't bolted on. </a:t>
            </a:r>
            <a:r>
              <a:rPr>
                <a:solidFill>
                  <a:srgbClr val="14F195"/>
                </a:solidFill>
              </a:rPr>
              <a:t>It's the engine</a:t>
            </a:r>
            <a:r>
              <a:rPr>
                <a:solidFill>
                  <a:srgbClr val="F8FAFC"/>
                </a:solidFill>
              </a:rPr>
              <a:t>.</a:t>
            </a:r>
          </a:p>
          <a:p>
            <a:pPr>
              <a:spcBef>
                <a:spcPts val="400"/>
              </a:spcBef>
              <a:defRPr sz="1400">
                <a:solidFill>
                  <a:srgbClr val="94A3B8"/>
                </a:solidFill>
                <a:latin typeface="Arial"/>
              </a:defRPr>
            </a:pPr>
            <a:r>
              <a:t>Real economic rights, tiered fee discounts, slashable reputation bonds, and Pyth oracles.</a:t>
            </a:r>
          </a:p>
        </p:txBody>
      </p:sp>
      <p:sp>
        <p:nvSpPr>
          <p:cNvPr id="5" name="TextBox 4"/>
          <p:cNvSpPr txBox="1"/>
          <p:nvPr/>
        </p:nvSpPr>
        <p:spPr>
          <a:xfrm>
            <a:off x="731520" y="6492240"/>
            <a:ext cx="10698480" cy="274320"/>
          </a:xfrm>
          <a:prstGeom prst="rect">
            <a:avLst/>
          </a:prstGeom>
          <a:noFill/>
        </p:spPr>
        <p:txBody>
          <a:bodyPr wrap="none" lIns="0" tIns="0" rIns="0" bIns="0">
            <a:spAutoFit/>
          </a:bodyPr>
          <a:lstStyle/>
          <a:p>
            <a:pPr>
              <a:defRPr sz="950">
                <a:solidFill>
                  <a:srgbClr val="5A6E91"/>
                </a:solidFill>
                <a:latin typeface="Arial"/>
              </a:defRPr>
            </a:pPr>
            <a:r>
              <a:t>ClockLend · Solana Seeker Micro-Lending &amp; Social Pawns · CLOCK IN Hackathon 2026</a:t>
            </a:r>
          </a:p>
        </p:txBody>
      </p:sp>
      <p:sp>
        <p:nvSpPr>
          <p:cNvPr id="6" name="Rounded Rectangle 5"/>
          <p:cNvSpPr/>
          <p:nvPr/>
        </p:nvSpPr>
        <p:spPr>
          <a:xfrm>
            <a:off x="731520" y="1691640"/>
            <a:ext cx="3413455" cy="4526280"/>
          </a:xfrm>
          <a:prstGeom prst="roundRect">
            <a:avLst/>
          </a:prstGeom>
          <a:solidFill>
            <a:srgbClr val="182340"/>
          </a:solidFill>
          <a:ln w="1905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3047695" cy="4160520"/>
          </a:xfrm>
          <a:prstGeom prst="rect">
            <a:avLst/>
          </a:prstGeom>
          <a:noFill/>
        </p:spPr>
        <p:txBody>
          <a:bodyPr wrap="square">
            <a:spAutoFit/>
          </a:bodyPr>
          <a:lstStyle/>
          <a:p>
            <a:pPr>
              <a:defRPr sz="1800" b="1">
                <a:solidFill>
                  <a:srgbClr val="14F195"/>
                </a:solidFill>
                <a:latin typeface="Trebuchet MS"/>
              </a:defRPr>
            </a:pPr>
            <a:r>
              <a:t>🏆 Staking Tier Rights</a:t>
            </a:r>
          </a:p>
          <a:p>
            <a:pPr>
              <a:spcBef>
                <a:spcPts val="200"/>
              </a:spcBef>
              <a:defRPr sz="1100" b="1">
                <a:solidFill>
                  <a:srgbClr val="F8FAFC"/>
                </a:solidFill>
              </a:defRPr>
            </a:pPr>
            <a:r>
              <a:t>Direct Economic Utility</a:t>
            </a:r>
          </a:p>
          <a:p>
            <a:pPr>
              <a:spcBef>
                <a:spcPts val="1000"/>
              </a:spcBef>
            </a:pPr>
            <a:r>
              <a:rPr sz="1150">
                <a:solidFill>
                  <a:srgbClr val="CBD5E1"/>
                </a:solidFill>
              </a:rPr>
              <a:t>• 100 SKR Staked: Unlocks 25% APR fee discount across all lending desks.</a:t>
            </a:r>
          </a:p>
          <a:p>
            <a:pPr>
              <a:spcBef>
                <a:spcPts val="1000"/>
              </a:spcBef>
            </a:pPr>
            <a:r>
              <a:rPr sz="1150">
                <a:solidFill>
                  <a:srgbClr val="CBD5E1"/>
                </a:solidFill>
              </a:rPr>
              <a:t>• 1,000 SKR Staked: Unlocks 50% APR fee discount + 90% LTV borrow tier.</a:t>
            </a:r>
          </a:p>
          <a:p>
            <a:pPr>
              <a:spcBef>
                <a:spcPts val="1000"/>
              </a:spcBef>
            </a:pPr>
            <a:r>
              <a:rPr sz="1150">
                <a:solidFill>
                  <a:srgbClr val="CBD5E1"/>
                </a:solidFill>
              </a:rPr>
              <a:t>• Continuous Yield: Staked SKR continues generating rewards while locked in loan escrow.</a:t>
            </a:r>
          </a:p>
          <a:p>
            <a:pPr>
              <a:spcBef>
                <a:spcPts val="1000"/>
              </a:spcBef>
            </a:pPr>
            <a:r>
              <a:rPr sz="1150">
                <a:solidFill>
                  <a:srgbClr val="CBD5E1"/>
                </a:solidFill>
              </a:rPr>
              <a:t>• Non-Custodial Exit: Unstake anytime from the mobile UI with zero lockup penalty when loans are cleared.</a:t>
            </a:r>
          </a:p>
        </p:txBody>
      </p:sp>
      <p:sp>
        <p:nvSpPr>
          <p:cNvPr id="8" name="Rounded Rectangle 7"/>
          <p:cNvSpPr/>
          <p:nvPr/>
        </p:nvSpPr>
        <p:spPr>
          <a:xfrm>
            <a:off x="4389120" y="1691640"/>
            <a:ext cx="3413455" cy="4526280"/>
          </a:xfrm>
          <a:prstGeom prst="roundRect">
            <a:avLst/>
          </a:prstGeom>
          <a:solidFill>
            <a:srgbClr val="182340"/>
          </a:solidFill>
          <a:ln w="1270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874519"/>
            <a:ext cx="3047695" cy="4160520"/>
          </a:xfrm>
          <a:prstGeom prst="rect">
            <a:avLst/>
          </a:prstGeom>
          <a:noFill/>
        </p:spPr>
        <p:txBody>
          <a:bodyPr wrap="square">
            <a:spAutoFit/>
          </a:bodyPr>
          <a:lstStyle/>
          <a:p>
            <a:pPr>
              <a:defRPr sz="1800" b="1">
                <a:solidFill>
                  <a:srgbClr val="FFB020"/>
                </a:solidFill>
                <a:latin typeface="Trebuchet MS"/>
              </a:defRPr>
            </a:pPr>
            <a:r>
              <a:t>🛡️ Slashed Reputation Bond</a:t>
            </a:r>
          </a:p>
          <a:p>
            <a:pPr>
              <a:spcBef>
                <a:spcPts val="200"/>
              </a:spcBef>
              <a:defRPr sz="1100" b="1">
                <a:solidFill>
                  <a:srgbClr val="F8FAFC"/>
                </a:solidFill>
              </a:defRPr>
            </a:pPr>
            <a:r>
              <a:t>Default Deterrence</a:t>
            </a:r>
          </a:p>
          <a:p>
            <a:pPr>
              <a:spcBef>
                <a:spcPts val="1000"/>
              </a:spcBef>
            </a:pPr>
            <a:r>
              <a:rPr sz="1150">
                <a:solidFill>
                  <a:srgbClr val="CBD5E1"/>
                </a:solidFill>
              </a:rPr>
              <a:t>• Borrower stakes SKR as a skin-in-the-game credit bond.</a:t>
            </a:r>
          </a:p>
          <a:p>
            <a:pPr>
              <a:spcBef>
                <a:spcPts val="1000"/>
              </a:spcBef>
            </a:pPr>
            <a:r>
              <a:rPr sz="1150">
                <a:solidFill>
                  <a:srgbClr val="CBD5E1"/>
                </a:solidFill>
              </a:rPr>
              <a:t>• If loan defaults and 24h grace expires, the bond is slashed on-chain.</a:t>
            </a:r>
          </a:p>
          <a:p>
            <a:pPr>
              <a:spcBef>
                <a:spcPts val="1000"/>
              </a:spcBef>
            </a:pPr>
            <a:r>
              <a:rPr sz="1150">
                <a:solidFill>
                  <a:srgbClr val="CBD5E1"/>
                </a:solidFill>
              </a:rPr>
              <a:t>• Slashed SKR compensates the desk lender, protecting pool solvency.</a:t>
            </a:r>
          </a:p>
          <a:p>
            <a:pPr>
              <a:spcBef>
                <a:spcPts val="1000"/>
              </a:spcBef>
            </a:pPr>
            <a:r>
              <a:rPr sz="1150">
                <a:solidFill>
                  <a:srgbClr val="CBD5E1"/>
                </a:solidFill>
              </a:rPr>
              <a:t>• Clean borrowers build permanent on-chain credit scores.</a:t>
            </a:r>
          </a:p>
        </p:txBody>
      </p:sp>
      <p:sp>
        <p:nvSpPr>
          <p:cNvPr id="10" name="Rounded Rectangle 9"/>
          <p:cNvSpPr/>
          <p:nvPr/>
        </p:nvSpPr>
        <p:spPr>
          <a:xfrm>
            <a:off x="8046720" y="1691640"/>
            <a:ext cx="3413455" cy="4526280"/>
          </a:xfrm>
          <a:prstGeom prst="roundRect">
            <a:avLst/>
          </a:prstGeom>
          <a:solidFill>
            <a:srgbClr val="182340"/>
          </a:solidFill>
          <a:ln w="1270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874519"/>
            <a:ext cx="3047695" cy="4160520"/>
          </a:xfrm>
          <a:prstGeom prst="rect">
            <a:avLst/>
          </a:prstGeom>
          <a:noFill/>
        </p:spPr>
        <p:txBody>
          <a:bodyPr wrap="square">
            <a:spAutoFit/>
          </a:bodyPr>
          <a:lstStyle/>
          <a:p>
            <a:pPr>
              <a:defRPr sz="1800" b="1">
                <a:solidFill>
                  <a:srgbClr val="00D4FF"/>
                </a:solidFill>
                <a:latin typeface="Trebuchet MS"/>
              </a:defRPr>
            </a:pPr>
            <a:r>
              <a:t>🔮 Pyth SKR/USD Oracle</a:t>
            </a:r>
          </a:p>
          <a:p>
            <a:pPr>
              <a:spcBef>
                <a:spcPts val="200"/>
              </a:spcBef>
              <a:defRPr sz="1100" b="1">
                <a:solidFill>
                  <a:srgbClr val="F8FAFC"/>
                </a:solidFill>
              </a:defRPr>
            </a:pPr>
            <a:r>
              <a:t>First Protocol in Lending</a:t>
            </a:r>
          </a:p>
          <a:p>
            <a:pPr>
              <a:spcBef>
                <a:spcPts val="1000"/>
              </a:spcBef>
            </a:pPr>
            <a:r>
              <a:rPr sz="1150">
                <a:solidFill>
                  <a:srgbClr val="CBD5E1"/>
                </a:solidFill>
              </a:rPr>
              <a:t>• First lending protocol to integrate Pyth's official SKR/USD price feed.</a:t>
            </a:r>
          </a:p>
          <a:p>
            <a:pPr>
              <a:spcBef>
                <a:spcPts val="1000"/>
              </a:spcBef>
            </a:pPr>
            <a:r>
              <a:rPr sz="1150">
                <a:solidFill>
                  <a:srgbClr val="CBD5E1"/>
                </a:solidFill>
              </a:rPr>
              <a:t>• Sub-second market valuation verified on-chain per transaction.</a:t>
            </a:r>
          </a:p>
          <a:p>
            <a:pPr>
              <a:spcBef>
                <a:spcPts val="1000"/>
              </a:spcBef>
            </a:pPr>
            <a:r>
              <a:rPr sz="1150">
                <a:solidFill>
                  <a:srgbClr val="CBD5E1"/>
                </a:solidFill>
              </a:rPr>
              <a:t>• Zero admin override, zero centralized keeper cron jobs.</a:t>
            </a:r>
          </a:p>
          <a:p>
            <a:pPr>
              <a:spcBef>
                <a:spcPts val="1000"/>
              </a:spcBef>
            </a:pPr>
            <a:r>
              <a:rPr sz="1150">
                <a:solidFill>
                  <a:srgbClr val="CBD5E1"/>
                </a:solidFill>
              </a:rPr>
              <a:t>• SKR accepted as primary collateral alongside SOL.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4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3474720" cy="347472"/>
          </a:xfrm>
          <a:prstGeom prst="roundRect">
            <a:avLst/>
          </a:prstGeom>
          <a:solidFill>
            <a:srgbClr val="102D3C"/>
          </a:solidFill>
          <a:ln w="1270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4F195"/>
                </a:solidFill>
                <a:latin typeface="Trebuchet MS"/>
              </a:defRPr>
            </a:pPr>
            <a:r>
              <a:t>REVENUE MODEL &amp; TOKEN FLYWHEEL</a:t>
            </a:r>
          </a:p>
        </p:txBody>
      </p:sp>
      <p:sp>
        <p:nvSpPr>
          <p:cNvPr id="4" name="TextBox 3"/>
          <p:cNvSpPr txBox="1"/>
          <p:nvPr/>
        </p:nvSpPr>
        <p:spPr>
          <a:xfrm>
            <a:off x="731520" y="868680"/>
            <a:ext cx="10698480" cy="822960"/>
          </a:xfrm>
          <a:prstGeom prst="rect">
            <a:avLst/>
          </a:prstGeom>
          <a:noFill/>
        </p:spPr>
        <p:txBody>
          <a:bodyPr wrap="square" lIns="0" tIns="0" rIns="0" bIns="0">
            <a:spAutoFit/>
          </a:bodyPr>
          <a:lstStyle/>
          <a:p>
            <a:pPr>
              <a:defRPr sz="2800" b="1">
                <a:latin typeface="Trebuchet MS"/>
              </a:defRPr>
            </a:pPr>
            <a:r>
              <a:rPr>
                <a:solidFill>
                  <a:srgbClr val="F8FAFC"/>
                </a:solidFill>
              </a:rPr>
              <a:t>Protocol monetization driving </a:t>
            </a:r>
            <a:r>
              <a:rPr>
                <a:solidFill>
                  <a:srgbClr val="14F195"/>
                </a:solidFill>
              </a:rPr>
              <a:t>staker yields &amp; token burns.</a:t>
            </a:r>
            <a:r>
              <a:rPr>
                <a:solidFill>
                  <a:srgbClr val="F8FAFC"/>
                </a:solidFill>
              </a:rPr>
              <a:t/>
            </a:r>
          </a:p>
          <a:p>
            <a:pPr>
              <a:spcBef>
                <a:spcPts val="400"/>
              </a:spcBef>
              <a:defRPr sz="1400">
                <a:solidFill>
                  <a:srgbClr val="94A3B8"/>
                </a:solidFill>
                <a:latin typeface="Arial"/>
              </a:defRPr>
            </a:pPr>
            <a:r>
              <a:t>Automated on-chain fee distribution paired with developer-driven spot buybacks.</a:t>
            </a:r>
          </a:p>
        </p:txBody>
      </p:sp>
      <p:sp>
        <p:nvSpPr>
          <p:cNvPr id="5" name="TextBox 4"/>
          <p:cNvSpPr txBox="1"/>
          <p:nvPr/>
        </p:nvSpPr>
        <p:spPr>
          <a:xfrm>
            <a:off x="731520" y="6492240"/>
            <a:ext cx="10698480" cy="274320"/>
          </a:xfrm>
          <a:prstGeom prst="rect">
            <a:avLst/>
          </a:prstGeom>
          <a:noFill/>
        </p:spPr>
        <p:txBody>
          <a:bodyPr wrap="none" lIns="0" tIns="0" rIns="0" bIns="0">
            <a:spAutoFit/>
          </a:bodyPr>
          <a:lstStyle/>
          <a:p>
            <a:pPr>
              <a:defRPr sz="950">
                <a:solidFill>
                  <a:srgbClr val="5A6E91"/>
                </a:solidFill>
                <a:latin typeface="Arial"/>
              </a:defRPr>
            </a:pPr>
            <a:r>
              <a:t>ClockLend · Solana Seeker Micro-Lending &amp; Social Pawns · CLOCK IN Hackathon 2026</a:t>
            </a:r>
          </a:p>
        </p:txBody>
      </p:sp>
      <p:sp>
        <p:nvSpPr>
          <p:cNvPr id="6" name="Rounded Rectangle 5"/>
          <p:cNvSpPr/>
          <p:nvPr/>
        </p:nvSpPr>
        <p:spPr>
          <a:xfrm>
            <a:off x="731520" y="1691640"/>
            <a:ext cx="3413455" cy="4526280"/>
          </a:xfrm>
          <a:prstGeom prst="roundRect">
            <a:avLst/>
          </a:prstGeom>
          <a:solidFill>
            <a:srgbClr val="182340"/>
          </a:solidFill>
          <a:ln w="1270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3047695" cy="4160520"/>
          </a:xfrm>
          <a:prstGeom prst="rect">
            <a:avLst/>
          </a:prstGeom>
          <a:noFill/>
        </p:spPr>
        <p:txBody>
          <a:bodyPr wrap="square">
            <a:spAutoFit/>
          </a:bodyPr>
          <a:lstStyle/>
          <a:p>
            <a:pPr>
              <a:defRPr sz="1800" b="1">
                <a:solidFill>
                  <a:srgbClr val="FFB020"/>
                </a:solidFill>
                <a:latin typeface="Trebuchet MS"/>
              </a:defRPr>
            </a:pPr>
            <a:r>
              <a:t>💰 3 Protocol Inflows</a:t>
            </a:r>
          </a:p>
          <a:p>
            <a:pPr>
              <a:spcBef>
                <a:spcPts val="200"/>
              </a:spcBef>
              <a:defRPr sz="1100" b="1">
                <a:solidFill>
                  <a:srgbClr val="F8FAFC"/>
                </a:solidFill>
              </a:defRPr>
            </a:pPr>
            <a:r>
              <a:t>Automated Monetization</a:t>
            </a:r>
          </a:p>
          <a:p>
            <a:pPr>
              <a:spcBef>
                <a:spcPts val="1000"/>
              </a:spcBef>
            </a:pPr>
            <a:r>
              <a:rPr sz="1150">
                <a:solidFill>
                  <a:srgbClr val="CBD5E1"/>
                </a:solidFill>
              </a:rPr>
              <a:t>• Loan Origination Fees: 0.25% on SOL, 0.50% on USDC/SKR withheld upfront at disbursement.</a:t>
            </a:r>
          </a:p>
          <a:p>
            <a:pPr>
              <a:spcBef>
                <a:spcPts val="1000"/>
              </a:spcBef>
            </a:pPr>
            <a:r>
              <a:rPr sz="1150">
                <a:solidFill>
                  <a:srgbClr val="CBD5E1"/>
                </a:solidFill>
              </a:rPr>
              <a:t>• 15% Interest Take-Rate: Diverted automatically from borrower repayments to Treasury PDA.</a:t>
            </a:r>
          </a:p>
          <a:p>
            <a:pPr>
              <a:spcBef>
                <a:spcPts val="1000"/>
              </a:spcBef>
            </a:pPr>
            <a:r>
              <a:rPr sz="1150">
                <a:solidFill>
                  <a:srgbClr val="CBD5E1"/>
                </a:solidFill>
              </a:rPr>
              <a:t>• 5% Liquidation Margin: Captured on seized collateral when defaults exceed 24h grace.</a:t>
            </a:r>
          </a:p>
          <a:p>
            <a:pPr>
              <a:spcBef>
                <a:spcPts val="1000"/>
              </a:spcBef>
            </a:pPr>
            <a:r>
              <a:rPr sz="1150">
                <a:solidFill>
                  <a:srgbClr val="CBD5E1"/>
                </a:solidFill>
              </a:rPr>
              <a:t>• Zero Float / Macro-Free: Enforced deterministically in native SBF Rust contract.</a:t>
            </a:r>
          </a:p>
        </p:txBody>
      </p:sp>
      <p:sp>
        <p:nvSpPr>
          <p:cNvPr id="8" name="Rounded Rectangle 7"/>
          <p:cNvSpPr/>
          <p:nvPr/>
        </p:nvSpPr>
        <p:spPr>
          <a:xfrm>
            <a:off x="4389120" y="1691640"/>
            <a:ext cx="3413455" cy="4526280"/>
          </a:xfrm>
          <a:prstGeom prst="roundRect">
            <a:avLst/>
          </a:prstGeom>
          <a:solidFill>
            <a:srgbClr val="182340"/>
          </a:solidFill>
          <a:ln w="1270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874519"/>
            <a:ext cx="3047695" cy="4160520"/>
          </a:xfrm>
          <a:prstGeom prst="rect">
            <a:avLst/>
          </a:prstGeom>
          <a:noFill/>
        </p:spPr>
        <p:txBody>
          <a:bodyPr wrap="square">
            <a:spAutoFit/>
          </a:bodyPr>
          <a:lstStyle/>
          <a:p>
            <a:pPr>
              <a:defRPr sz="1800" b="1">
                <a:solidFill>
                  <a:srgbClr val="14F195"/>
                </a:solidFill>
                <a:latin typeface="Trebuchet MS"/>
              </a:defRPr>
            </a:pPr>
            <a:r>
              <a:t>⚖️ On-Chain Fee Routing</a:t>
            </a:r>
          </a:p>
          <a:p>
            <a:pPr>
              <a:spcBef>
                <a:spcPts val="200"/>
              </a:spcBef>
              <a:defRPr sz="1100" b="1">
                <a:solidFill>
                  <a:srgbClr val="F8FAFC"/>
                </a:solidFill>
              </a:defRPr>
            </a:pPr>
            <a:r>
              <a:t>Decentralized Value Split</a:t>
            </a:r>
          </a:p>
          <a:p>
            <a:pPr>
              <a:spcBef>
                <a:spcPts val="1000"/>
              </a:spcBef>
            </a:pPr>
            <a:r>
              <a:rPr sz="1150">
                <a:solidFill>
                  <a:srgbClr val="CBD5E1"/>
                </a:solidFill>
              </a:rPr>
              <a:t>• 50% of Origination Fees: Direct USDC dividend yield to SKR stakers via SkrYieldVault PDA.</a:t>
            </a:r>
          </a:p>
          <a:p>
            <a:pPr>
              <a:spcBef>
                <a:spcPts val="1000"/>
              </a:spcBef>
            </a:pPr>
            <a:r>
              <a:rPr sz="1150">
                <a:solidFill>
                  <a:srgbClr val="CBD5E1"/>
                </a:solidFill>
              </a:rPr>
              <a:t>• 85% of Loan Interest: Paid directly into Desk Owner Vaults (100% principal protected).</a:t>
            </a:r>
          </a:p>
          <a:p>
            <a:pPr>
              <a:spcBef>
                <a:spcPts val="1000"/>
              </a:spcBef>
            </a:pPr>
            <a:r>
              <a:rPr sz="1150">
                <a:solidFill>
                  <a:srgbClr val="CBD5E1"/>
                </a:solidFill>
              </a:rPr>
              <a:t>• 100% of P2P Loan Interest: Directly transferred to peer funder wallets.</a:t>
            </a:r>
          </a:p>
          <a:p>
            <a:pPr>
              <a:spcBef>
                <a:spcPts val="1000"/>
              </a:spcBef>
            </a:pPr>
            <a:r>
              <a:rPr sz="1150">
                <a:solidFill>
                  <a:srgbClr val="CBD5E1"/>
                </a:solidFill>
              </a:rPr>
              <a:t>• Treasury PDA Reserve: Collects remaining fees and margins for growth and token burns.</a:t>
            </a:r>
          </a:p>
        </p:txBody>
      </p:sp>
      <p:sp>
        <p:nvSpPr>
          <p:cNvPr id="10" name="Rounded Rectangle 9"/>
          <p:cNvSpPr/>
          <p:nvPr/>
        </p:nvSpPr>
        <p:spPr>
          <a:xfrm>
            <a:off x="8046720" y="1691640"/>
            <a:ext cx="3413455" cy="4526280"/>
          </a:xfrm>
          <a:prstGeom prst="roundRect">
            <a:avLst/>
          </a:prstGeom>
          <a:solidFill>
            <a:srgbClr val="182340"/>
          </a:solidFill>
          <a:ln w="1905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874519"/>
            <a:ext cx="3047695" cy="4160520"/>
          </a:xfrm>
          <a:prstGeom prst="rect">
            <a:avLst/>
          </a:prstGeom>
          <a:noFill/>
        </p:spPr>
        <p:txBody>
          <a:bodyPr wrap="square">
            <a:spAutoFit/>
          </a:bodyPr>
          <a:lstStyle/>
          <a:p>
            <a:pPr>
              <a:defRPr sz="1800" b="1">
                <a:solidFill>
                  <a:srgbClr val="00D4FF"/>
                </a:solidFill>
                <a:latin typeface="Trebuchet MS"/>
              </a:defRPr>
            </a:pPr>
            <a:r>
              <a:t>🔥 SKR Buyback &amp; Burn</a:t>
            </a:r>
          </a:p>
          <a:p>
            <a:pPr>
              <a:spcBef>
                <a:spcPts val="200"/>
              </a:spcBef>
              <a:defRPr sz="1100" b="1">
                <a:solidFill>
                  <a:srgbClr val="F8FAFC"/>
                </a:solidFill>
              </a:defRPr>
            </a:pPr>
            <a:r>
              <a:t>Deflationary Token Flywheel</a:t>
            </a:r>
          </a:p>
          <a:p>
            <a:pPr>
              <a:spcBef>
                <a:spcPts val="1000"/>
              </a:spcBef>
            </a:pPr>
            <a:r>
              <a:rPr sz="1150">
                <a:solidFill>
                  <a:srgbClr val="CBD5E1"/>
                </a:solidFill>
              </a:rPr>
              <a:t>• Direct Burn: Instant atomic SPL burn for Treasury SKR (zero DEX fees, zero slippage).</a:t>
            </a:r>
          </a:p>
          <a:p>
            <a:pPr>
              <a:spcBef>
                <a:spcPts val="1000"/>
              </a:spcBef>
            </a:pPr>
            <a:r>
              <a:rPr sz="1150">
                <a:solidFill>
                  <a:srgbClr val="CBD5E1"/>
                </a:solidFill>
              </a:rPr>
              <a:t>• Jupiter Spot Buy &amp; Burn: Treasury USDC/SOL executes open-market buy orders and burns SKR.</a:t>
            </a:r>
          </a:p>
          <a:p>
            <a:pPr>
              <a:spcBef>
                <a:spcPts val="1000"/>
              </a:spcBef>
            </a:pPr>
            <a:r>
              <a:rPr sz="1150">
                <a:solidFill>
                  <a:srgbClr val="CBD5E1"/>
                </a:solidFill>
              </a:rPr>
              <a:t>• Dynamic Developer Control: Developer chooses exact amount or % based on market conditions.</a:t>
            </a:r>
          </a:p>
          <a:p>
            <a:pPr>
              <a:spcBef>
                <a:spcPts val="1000"/>
              </a:spcBef>
            </a:pPr>
            <a:r>
              <a:rPr sz="1150">
                <a:solidFill>
                  <a:srgbClr val="CBD5E1"/>
                </a:solidFill>
              </a:rPr>
              <a:t>• Verifiable On-Chain Proof: Public Solscan transaction proof for every burn event.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2066543" cy="347472"/>
          </a:xfrm>
          <a:prstGeom prst="roundRect">
            <a:avLst/>
          </a:prstGeom>
          <a:solidFill>
            <a:srgbClr val="102D3C"/>
          </a:solidFill>
          <a:ln w="1270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4F195"/>
                </a:solidFill>
                <a:latin typeface="Trebuchet MS"/>
              </a:defRPr>
            </a:pPr>
            <a:r>
              <a:t>ECOSYSTEM IMPACT</a:t>
            </a:r>
          </a:p>
        </p:txBody>
      </p:sp>
      <p:sp>
        <p:nvSpPr>
          <p:cNvPr id="4" name="TextBox 3"/>
          <p:cNvSpPr txBox="1"/>
          <p:nvPr/>
        </p:nvSpPr>
        <p:spPr>
          <a:xfrm>
            <a:off x="731520" y="868680"/>
            <a:ext cx="10698480" cy="822960"/>
          </a:xfrm>
          <a:prstGeom prst="rect">
            <a:avLst/>
          </a:prstGeom>
          <a:noFill/>
        </p:spPr>
        <p:txBody>
          <a:bodyPr wrap="square" lIns="0" tIns="0" rIns="0" bIns="0">
            <a:spAutoFit/>
          </a:bodyPr>
          <a:lstStyle/>
          <a:p>
            <a:pPr>
              <a:defRPr sz="2800" b="1">
                <a:latin typeface="Trebuchet MS"/>
              </a:defRPr>
            </a:pPr>
            <a:r>
              <a:rPr>
                <a:solidFill>
                  <a:srgbClr val="F8FAFC"/>
                </a:solidFill>
              </a:rPr>
              <a:t>A lending layer for the </a:t>
            </a:r>
            <a:r>
              <a:rPr>
                <a:solidFill>
                  <a:srgbClr val="14F195"/>
                </a:solidFill>
              </a:rPr>
              <a:t>Seeker social graph</a:t>
            </a:r>
            <a:r>
              <a:rPr>
                <a:solidFill>
                  <a:srgbClr val="F8FAFC"/>
                </a:solidFill>
              </a:rPr>
              <a:t>.</a:t>
            </a:r>
          </a:p>
          <a:p>
            <a:pPr>
              <a:spcBef>
                <a:spcPts val="400"/>
              </a:spcBef>
              <a:defRPr sz="1400">
                <a:solidFill>
                  <a:srgbClr val="94A3B8"/>
                </a:solidFill>
                <a:latin typeface="Arial"/>
              </a:defRPr>
            </a:pPr>
            <a:r>
              <a:t>Creating structural demand for SKR while delivering the flagship consumer lending dApp.</a:t>
            </a:r>
          </a:p>
        </p:txBody>
      </p:sp>
      <p:sp>
        <p:nvSpPr>
          <p:cNvPr id="5" name="TextBox 4"/>
          <p:cNvSpPr txBox="1"/>
          <p:nvPr/>
        </p:nvSpPr>
        <p:spPr>
          <a:xfrm>
            <a:off x="731520" y="6492240"/>
            <a:ext cx="10698480" cy="274320"/>
          </a:xfrm>
          <a:prstGeom prst="rect">
            <a:avLst/>
          </a:prstGeom>
          <a:noFill/>
        </p:spPr>
        <p:txBody>
          <a:bodyPr wrap="none" lIns="0" tIns="0" rIns="0" bIns="0">
            <a:spAutoFit/>
          </a:bodyPr>
          <a:lstStyle/>
          <a:p>
            <a:pPr>
              <a:defRPr sz="950">
                <a:solidFill>
                  <a:srgbClr val="5A6E91"/>
                </a:solidFill>
                <a:latin typeface="Arial"/>
              </a:defRPr>
            </a:pPr>
            <a:r>
              <a:t>ClockLend · Solana Seeker Micro-Lending &amp; Social Pawns · CLOCK IN Hackathon 2026</a:t>
            </a:r>
          </a:p>
        </p:txBody>
      </p:sp>
      <p:sp>
        <p:nvSpPr>
          <p:cNvPr id="6" name="Rounded Rectangle 5"/>
          <p:cNvSpPr/>
          <p:nvPr/>
        </p:nvSpPr>
        <p:spPr>
          <a:xfrm>
            <a:off x="731520" y="1691640"/>
            <a:ext cx="5212080" cy="4480560"/>
          </a:xfrm>
          <a:prstGeom prst="roundRect">
            <a:avLst/>
          </a:prstGeom>
          <a:solidFill>
            <a:srgbClr val="182340"/>
          </a:solidFill>
          <a:ln w="1270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74519"/>
            <a:ext cx="4754880" cy="4114800"/>
          </a:xfrm>
          <a:prstGeom prst="rect">
            <a:avLst/>
          </a:prstGeom>
          <a:noFill/>
        </p:spPr>
        <p:txBody>
          <a:bodyPr wrap="square">
            <a:spAutoFit/>
          </a:bodyPr>
          <a:lstStyle/>
          <a:p>
            <a:pPr>
              <a:defRPr sz="2000" b="1">
                <a:solidFill>
                  <a:srgbClr val="14F195"/>
                </a:solidFill>
                <a:latin typeface="Trebuchet MS"/>
              </a:defRPr>
            </a:pPr>
            <a:r>
              <a:t>💎 Value Created for the SKR Token</a:t>
            </a:r>
          </a:p>
          <a:p>
            <a:pPr>
              <a:spcBef>
                <a:spcPts val="1200"/>
              </a:spcBef>
            </a:pPr>
            <a:r>
              <a:rPr b="1" sz="1300">
                <a:solidFill>
                  <a:srgbClr val="F8FAFC"/>
                </a:solidFill>
              </a:rPr>
              <a:t>✔ Structural Staking Sink
</a:t>
            </a:r>
            <a:r>
              <a:rPr sz="1150">
                <a:solidFill>
                  <a:srgbClr val="CBD5E1"/>
                </a:solidFill>
              </a:rPr>
              <a:t>Every merchant opening a lending desk and every borrower seeking discounted rates locks SKR in protocol escrow contracts.</a:t>
            </a:r>
          </a:p>
          <a:p>
            <a:pPr>
              <a:spcBef>
                <a:spcPts val="1200"/>
              </a:spcBef>
            </a:pPr>
            <a:r>
              <a:rPr b="1" sz="1300">
                <a:solidFill>
                  <a:srgbClr val="F8FAFC"/>
                </a:solidFill>
              </a:rPr>
              <a:t>✔ Collateral Float Removal
</a:t>
            </a:r>
            <a:r>
              <a:rPr sz="1150">
                <a:solidFill>
                  <a:srgbClr val="CBD5E1"/>
                </a:solidFill>
              </a:rPr>
              <a:t>SKR locked as micro-loan collateral takes circulating supply off the market during active borrowing periods.</a:t>
            </a:r>
          </a:p>
          <a:p>
            <a:pPr>
              <a:spcBef>
                <a:spcPts val="1200"/>
              </a:spcBef>
            </a:pPr>
            <a:r>
              <a:rPr b="1" sz="1300">
                <a:solidFill>
                  <a:srgbClr val="F8FAFC"/>
                </a:solidFill>
              </a:rPr>
              <a:t>✔ First Genuine DeFi Utility
</a:t>
            </a:r>
            <a:r>
              <a:rPr sz="1150">
                <a:solidFill>
                  <a:srgbClr val="CBD5E1"/>
                </a:solidFill>
              </a:rPr>
              <a:t>Transforms SKR from a speculative meme or governance token into a productive financial asset with cash-flow utility.</a:t>
            </a:r>
          </a:p>
          <a:p>
            <a:pPr>
              <a:spcBef>
                <a:spcPts val="1200"/>
              </a:spcBef>
            </a:pPr>
            <a:r>
              <a:rPr b="1" sz="1300">
                <a:solidFill>
                  <a:srgbClr val="F8FAFC"/>
                </a:solidFill>
              </a:rPr>
              <a:t>✔ Counter-Cyclical Durability
</a:t>
            </a:r>
            <a:r>
              <a:rPr sz="1150">
                <a:solidFill>
                  <a:srgbClr val="CBD5E1"/>
                </a:solidFill>
              </a:rPr>
              <a:t>Micro-credit demand remains high regardless of crypto bull or bear cycles, sustaining continuous protocol volume.</a:t>
            </a:r>
          </a:p>
        </p:txBody>
      </p:sp>
      <p:sp>
        <p:nvSpPr>
          <p:cNvPr id="8" name="Rounded Rectangle 7"/>
          <p:cNvSpPr/>
          <p:nvPr/>
        </p:nvSpPr>
        <p:spPr>
          <a:xfrm>
            <a:off x="6248095" y="1691640"/>
            <a:ext cx="5212080" cy="4480560"/>
          </a:xfrm>
          <a:prstGeom prst="roundRect">
            <a:avLst/>
          </a:prstGeom>
          <a:solidFill>
            <a:srgbClr val="182340"/>
          </a:solidFill>
          <a:ln w="1905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76695" y="1874519"/>
            <a:ext cx="4754880" cy="4114800"/>
          </a:xfrm>
          <a:prstGeom prst="rect">
            <a:avLst/>
          </a:prstGeom>
          <a:noFill/>
        </p:spPr>
        <p:txBody>
          <a:bodyPr wrap="square">
            <a:spAutoFit/>
          </a:bodyPr>
          <a:lstStyle/>
          <a:p>
            <a:pPr>
              <a:defRPr sz="2000" b="1">
                <a:solidFill>
                  <a:srgbClr val="00D4FF"/>
                </a:solidFill>
                <a:latin typeface="Trebuchet MS"/>
              </a:defRPr>
            </a:pPr>
            <a:r>
              <a:t>📱 Value Created for the Solana Seeker</a:t>
            </a:r>
          </a:p>
          <a:p>
            <a:pPr>
              <a:spcBef>
                <a:spcPts val="1200"/>
              </a:spcBef>
            </a:pPr>
            <a:r>
              <a:rPr b="1" sz="1300">
                <a:solidFill>
                  <a:srgbClr val="F8FAFC"/>
                </a:solidFill>
              </a:rPr>
              <a:t>✔ Flagship Financial Primitive
</a:t>
            </a:r>
            <a:r>
              <a:rPr sz="1150">
                <a:solidFill>
                  <a:srgbClr val="CBD5E1"/>
                </a:solidFill>
              </a:rPr>
              <a:t>A consumer-grade, everyday mobile dApp proving the consumer power of the Solana Mobile Stack and Seed Vault.</a:t>
            </a:r>
          </a:p>
          <a:p>
            <a:pPr>
              <a:spcBef>
                <a:spcPts val="1200"/>
              </a:spcBef>
            </a:pPr>
            <a:r>
              <a:rPr b="1" sz="1300">
                <a:solidFill>
                  <a:srgbClr val="F8FAFC"/>
                </a:solidFill>
              </a:rPr>
              <a:t>✔ Portable On-Chain Credit Identity
</a:t>
            </a:r>
            <a:r>
              <a:rPr sz="1150">
                <a:solidFill>
                  <a:srgbClr val="CBD5E1"/>
                </a:solidFill>
              </a:rPr>
              <a:t>Creates the first decentralized credit score that follows Seeker wallet holders across future Web3 applications.</a:t>
            </a:r>
          </a:p>
          <a:p>
            <a:pPr>
              <a:spcBef>
                <a:spcPts val="1200"/>
              </a:spcBef>
            </a:pPr>
            <a:r>
              <a:rPr b="1" sz="1300">
                <a:solidFill>
                  <a:srgbClr val="F8FAFC"/>
                </a:solidFill>
              </a:rPr>
              <a:t>✔ Organic Grassroots Distribution
</a:t>
            </a:r>
            <a:r>
              <a:rPr sz="1150">
                <a:solidFill>
                  <a:srgbClr val="CBD5E1"/>
                </a:solidFill>
              </a:rPr>
              <a:t>NFC circle lending and community desks encourage peer-to-peer Seeker hardware recommendations.</a:t>
            </a:r>
          </a:p>
          <a:p>
            <a:pPr>
              <a:spcBef>
                <a:spcPts val="1200"/>
              </a:spcBef>
            </a:pPr>
            <a:r>
              <a:rPr b="1" sz="1300">
                <a:solidFill>
                  <a:srgbClr val="F8FAFC"/>
                </a:solidFill>
              </a:rPr>
              <a:t>✔ TARDIS Social Synergy
</a:t>
            </a:r>
            <a:r>
              <a:rPr sz="1150">
                <a:solidFill>
                  <a:srgbClr val="CBD5E1"/>
                </a:solidFill>
              </a:rPr>
              <a:t>Seamless integration into Seeker social feeds for viral peer loans, debt gifts, and social circle rescue alerts.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4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2569464" cy="347472"/>
          </a:xfrm>
          <a:prstGeom prst="roundRect">
            <a:avLst/>
          </a:prstGeom>
          <a:solidFill>
            <a:srgbClr val="102D3C"/>
          </a:solidFill>
          <a:ln w="1270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4F195"/>
                </a:solidFill>
                <a:latin typeface="Trebuchet MS"/>
              </a:defRPr>
            </a:pPr>
            <a:r>
              <a:t>THE ASK &amp; COMMITMENTS</a:t>
            </a:r>
          </a:p>
        </p:txBody>
      </p:sp>
      <p:sp>
        <p:nvSpPr>
          <p:cNvPr id="4" name="TextBox 3"/>
          <p:cNvSpPr txBox="1"/>
          <p:nvPr/>
        </p:nvSpPr>
        <p:spPr>
          <a:xfrm>
            <a:off x="731520" y="868680"/>
            <a:ext cx="10698480" cy="822960"/>
          </a:xfrm>
          <a:prstGeom prst="rect">
            <a:avLst/>
          </a:prstGeom>
          <a:noFill/>
        </p:spPr>
        <p:txBody>
          <a:bodyPr wrap="square" lIns="0" tIns="0" rIns="0" bIns="0">
            <a:spAutoFit/>
          </a:bodyPr>
          <a:lstStyle/>
          <a:p>
            <a:pPr>
              <a:defRPr sz="2800" b="1">
                <a:latin typeface="Trebuchet MS"/>
              </a:defRPr>
            </a:pPr>
            <a:r>
              <a:rPr>
                <a:solidFill>
                  <a:srgbClr val="F8FAFC"/>
                </a:solidFill>
              </a:rPr>
              <a:t>Two prizes. </a:t>
            </a:r>
            <a:r>
              <a:rPr>
                <a:solidFill>
                  <a:srgbClr val="14F195"/>
                </a:solidFill>
              </a:rPr>
              <a:t>One launch</a:t>
            </a:r>
            <a:r>
              <a:rPr>
                <a:solidFill>
                  <a:srgbClr val="F8FAFC"/>
                </a:solidFill>
              </a:rPr>
              <a:t>.</a:t>
            </a:r>
          </a:p>
          <a:p>
            <a:pPr>
              <a:spcBef>
                <a:spcPts val="400"/>
              </a:spcBef>
              <a:defRPr sz="1400">
                <a:solidFill>
                  <a:srgbClr val="94A3B8"/>
                </a:solidFill>
                <a:latin typeface="Arial"/>
              </a:defRPr>
            </a:pPr>
            <a:r>
              <a:t>A clear, actionable plan to take ClockLend from hackathon winner to Seeker essential.</a:t>
            </a:r>
          </a:p>
        </p:txBody>
      </p:sp>
      <p:sp>
        <p:nvSpPr>
          <p:cNvPr id="5" name="TextBox 4"/>
          <p:cNvSpPr txBox="1"/>
          <p:nvPr/>
        </p:nvSpPr>
        <p:spPr>
          <a:xfrm>
            <a:off x="731520" y="6492240"/>
            <a:ext cx="10698480" cy="274320"/>
          </a:xfrm>
          <a:prstGeom prst="rect">
            <a:avLst/>
          </a:prstGeom>
          <a:noFill/>
        </p:spPr>
        <p:txBody>
          <a:bodyPr wrap="none" lIns="0" tIns="0" rIns="0" bIns="0">
            <a:spAutoFit/>
          </a:bodyPr>
          <a:lstStyle/>
          <a:p>
            <a:pPr>
              <a:defRPr sz="950">
                <a:solidFill>
                  <a:srgbClr val="5A6E91"/>
                </a:solidFill>
                <a:latin typeface="Arial"/>
              </a:defRPr>
            </a:pPr>
            <a:r>
              <a:t>ClockLend · Solana Seeker Micro-Lending &amp; Social Pawns · CLOCK IN Hackathon 2026</a:t>
            </a:r>
          </a:p>
        </p:txBody>
      </p:sp>
      <p:sp>
        <p:nvSpPr>
          <p:cNvPr id="6" name="Rounded Rectangle 5"/>
          <p:cNvSpPr/>
          <p:nvPr/>
        </p:nvSpPr>
        <p:spPr>
          <a:xfrm>
            <a:off x="731520" y="1691640"/>
            <a:ext cx="5212080" cy="4480560"/>
          </a:xfrm>
          <a:prstGeom prst="roundRect">
            <a:avLst/>
          </a:prstGeom>
          <a:solidFill>
            <a:srgbClr val="182340"/>
          </a:solidFill>
          <a:ln w="1270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20240"/>
            <a:ext cx="4754880" cy="4023360"/>
          </a:xfrm>
          <a:prstGeom prst="rect">
            <a:avLst/>
          </a:prstGeom>
          <a:noFill/>
        </p:spPr>
        <p:txBody>
          <a:bodyPr wrap="square">
            <a:spAutoFit/>
          </a:bodyPr>
          <a:lstStyle/>
          <a:p>
            <a:pPr>
              <a:defRPr sz="2200" b="1">
                <a:solidFill>
                  <a:srgbClr val="FFB020"/>
                </a:solidFill>
                <a:latin typeface="Trebuchet MS"/>
              </a:defRPr>
            </a:pPr>
            <a:r>
              <a:t>🎯 What We Are Asking For</a:t>
            </a:r>
          </a:p>
          <a:p>
            <a:pPr>
              <a:spcBef>
                <a:spcPts val="1000"/>
              </a:spcBef>
            </a:pPr>
            <a:r>
              <a:rPr b="1" sz="1300">
                <a:solidFill>
                  <a:srgbClr val="F8FAFC"/>
                </a:solidFill>
              </a:rPr>
              <a:t>🏆 CLOCK IN Grand Prize
</a:t>
            </a:r>
            <a:r>
              <a:rPr sz="1100">
                <a:solidFill>
                  <a:srgbClr val="CBD5E1"/>
                </a:solidFill>
              </a:rPr>
              <a:t>Recognition as the premier consumer mobile DeFi application built for the Solana Seeker ecosystem.</a:t>
            </a:r>
          </a:p>
          <a:p>
            <a:pPr>
              <a:spcBef>
                <a:spcPts val="1000"/>
              </a:spcBef>
            </a:pPr>
            <a:r>
              <a:rPr b="1" sz="1300">
                <a:solidFill>
                  <a:srgbClr val="F8FAFC"/>
                </a:solidFill>
              </a:rPr>
              <a:t>🏆 The $10,000 SKR Integration Prize
</a:t>
            </a:r>
            <a:r>
              <a:rPr sz="1100">
                <a:solidFill>
                  <a:srgbClr val="CBD5E1"/>
                </a:solidFill>
              </a:rPr>
              <a:t>For delivering the most comprehensive, economically robust SKR staking and oracle integration in the hackathon.</a:t>
            </a:r>
          </a:p>
          <a:p>
            <a:pPr>
              <a:spcBef>
                <a:spcPts val="1000"/>
              </a:spcBef>
            </a:pPr>
            <a:r>
              <a:rPr b="1" sz="1300">
                <a:solidFill>
                  <a:srgbClr val="F8FAFC"/>
                </a:solidFill>
              </a:rPr>
              <a:t>🏆 Solana Mobile Co-Marketing
</a:t>
            </a:r>
            <a:r>
              <a:rPr sz="1100">
                <a:solidFill>
                  <a:srgbClr val="CBD5E1"/>
                </a:solidFill>
              </a:rPr>
              <a:t>Support for featured placement on the Solana dApp Store home feed upon official device ship date.</a:t>
            </a:r>
          </a:p>
        </p:txBody>
      </p:sp>
      <p:sp>
        <p:nvSpPr>
          <p:cNvPr id="8" name="Rounded Rectangle 7"/>
          <p:cNvSpPr/>
          <p:nvPr/>
        </p:nvSpPr>
        <p:spPr>
          <a:xfrm>
            <a:off x="6248095" y="1691640"/>
            <a:ext cx="5212080" cy="4480560"/>
          </a:xfrm>
          <a:prstGeom prst="roundRect">
            <a:avLst/>
          </a:prstGeom>
          <a:solidFill>
            <a:srgbClr val="182340"/>
          </a:solidFill>
          <a:ln w="1905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76695" y="1920240"/>
            <a:ext cx="4754880" cy="4023360"/>
          </a:xfrm>
          <a:prstGeom prst="rect">
            <a:avLst/>
          </a:prstGeom>
          <a:noFill/>
        </p:spPr>
        <p:txBody>
          <a:bodyPr wrap="square">
            <a:spAutoFit/>
          </a:bodyPr>
          <a:lstStyle/>
          <a:p>
            <a:pPr>
              <a:defRPr sz="2200" b="1">
                <a:solidFill>
                  <a:srgbClr val="14F195"/>
                </a:solidFill>
                <a:latin typeface="Trebuchet MS"/>
              </a:defRPr>
            </a:pPr>
            <a:r>
              <a:t>🚀 What We Commit to Deliver</a:t>
            </a:r>
          </a:p>
          <a:p>
            <a:pPr>
              <a:spcBef>
                <a:spcPts val="800"/>
              </a:spcBef>
            </a:pPr>
            <a:r>
              <a:rPr b="1" sz="1250">
                <a:solidFill>
                  <a:srgbClr val="F8FAFC"/>
                </a:solidFill>
              </a:rPr>
              <a:t>⚡ Solana dApp Store Launch
</a:t>
            </a:r>
            <a:r>
              <a:rPr sz="1100">
                <a:solidFill>
                  <a:srgbClr val="CBD5E1"/>
                </a:solidFill>
              </a:rPr>
              <a:t>Official submission and release package for all 150,000+ Solana Seeker pre-order customers.</a:t>
            </a:r>
          </a:p>
          <a:p>
            <a:pPr>
              <a:spcBef>
                <a:spcPts val="800"/>
              </a:spcBef>
            </a:pPr>
            <a:r>
              <a:rPr b="1" sz="1250">
                <a:solidFill>
                  <a:srgbClr val="F8FAFC"/>
                </a:solidFill>
              </a:rPr>
              <a:t>⚡ Mainnet Liquidity Seeding
</a:t>
            </a:r>
            <a:r>
              <a:rPr sz="1100">
                <a:solidFill>
                  <a:srgbClr val="CBD5E1"/>
                </a:solidFill>
              </a:rPr>
              <a:t>Deploy dedicated capital to seed initial community lending desks for low-fee micro-borrowing.</a:t>
            </a:r>
          </a:p>
          <a:p>
            <a:pPr>
              <a:spcBef>
                <a:spcPts val="800"/>
              </a:spcBef>
            </a:pPr>
            <a:r>
              <a:rPr b="1" sz="1250">
                <a:solidFill>
                  <a:srgbClr val="F8FAFC"/>
                </a:solidFill>
              </a:rPr>
              <a:t>⚡ First 1,000 Verified Borrowers
</a:t>
            </a:r>
            <a:r>
              <a:rPr sz="1100">
                <a:solidFill>
                  <a:srgbClr val="CBD5E1"/>
                </a:solidFill>
              </a:rPr>
              <a:t>Targeted user onboarding campaign starting with verified Seeker Genesis Token holders.</a:t>
            </a:r>
          </a:p>
          <a:p>
            <a:pPr>
              <a:spcBef>
                <a:spcPts val="800"/>
              </a:spcBef>
            </a:pPr>
            <a:r>
              <a:rPr b="1" sz="1250">
                <a:solidFill>
                  <a:srgbClr val="F8FAFC"/>
                </a:solidFill>
              </a:rPr>
              <a:t>⚡ TARDIS Social Feed Integration
</a:t>
            </a:r>
            <a:r>
              <a:rPr sz="1100">
                <a:solidFill>
                  <a:srgbClr val="CBD5E1"/>
                </a:solidFill>
              </a:rPr>
              <a:t>Enable native social micro-loans and peer debt gifting directly inside Seeker social feeds.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5180990" y="914400"/>
            <a:ext cx="1828800" cy="1828800"/>
          </a:xfrm>
          <a:prstGeom prst="rect">
            <a:avLst/>
          </a:prstGeom>
        </p:spPr>
      </p:pic>
      <p:sp>
        <p:nvSpPr>
          <p:cNvPr id="4" name="TextBox 3"/>
          <p:cNvSpPr txBox="1"/>
          <p:nvPr/>
        </p:nvSpPr>
        <p:spPr>
          <a:xfrm>
            <a:off x="1371600" y="2834640"/>
            <a:ext cx="9448495" cy="1188720"/>
          </a:xfrm>
          <a:prstGeom prst="rect">
            <a:avLst/>
          </a:prstGeom>
          <a:noFill/>
        </p:spPr>
        <p:txBody>
          <a:bodyPr wrap="square">
            <a:spAutoFit/>
          </a:bodyPr>
          <a:lstStyle/>
          <a:p>
            <a:pPr algn="ctr"/>
            <a:r>
              <a:rPr sz="4800" b="1">
                <a:solidFill>
                  <a:srgbClr val="F8FAFC"/>
                </a:solidFill>
                <a:latin typeface="Trebuchet MS"/>
              </a:rPr>
              <a:t>Clock</a:t>
            </a:r>
            <a:r>
              <a:rPr sz="4800" b="1">
                <a:solidFill>
                  <a:srgbClr val="14F195"/>
                </a:solidFill>
                <a:latin typeface="Trebuchet MS"/>
              </a:rPr>
              <a:t>Lend</a:t>
            </a:r>
          </a:p>
          <a:p>
            <a:pPr algn="ctr">
              <a:spcBef>
                <a:spcPts val="600"/>
              </a:spcBef>
            </a:pPr>
            <a:r>
              <a:rPr sz="2000" b="1">
                <a:solidFill>
                  <a:srgbClr val="00D4FF"/>
                </a:solidFill>
                <a:latin typeface="Trebuchet MS"/>
              </a:rPr>
              <a:t>Lend on time. Social credit, on-chain.</a:t>
            </a:r>
          </a:p>
        </p:txBody>
      </p:sp>
      <p:sp>
        <p:nvSpPr>
          <p:cNvPr id="5" name="Rounded Rectangle 4"/>
          <p:cNvSpPr/>
          <p:nvPr/>
        </p:nvSpPr>
        <p:spPr>
          <a:xfrm>
            <a:off x="1828800" y="4023360"/>
            <a:ext cx="8534095" cy="1463040"/>
          </a:xfrm>
          <a:prstGeom prst="roundRect">
            <a:avLst/>
          </a:prstGeom>
          <a:solidFill>
            <a:srgbClr val="102D3C"/>
          </a:solidFill>
          <a:ln w="1905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011680" y="4069080"/>
            <a:ext cx="8168335" cy="1371600"/>
          </a:xfrm>
          <a:prstGeom prst="rect">
            <a:avLst/>
          </a:prstGeom>
          <a:noFill/>
        </p:spPr>
        <p:txBody>
          <a:bodyPr wrap="square">
            <a:spAutoFit/>
          </a:bodyPr>
          <a:lstStyle/>
          <a:p>
            <a:pPr algn="ctr"/>
            <a:r>
              <a:rPr b="1" sz="1200">
                <a:solidFill>
                  <a:srgbClr val="14F195"/>
                </a:solidFill>
                <a:latin typeface="Trebuchet MS"/>
              </a:rPr>
              <a:t>MAINNET PROGRAM ID: </a:t>
            </a:r>
            <a:r>
              <a:rPr sz="1200">
                <a:solidFill>
                  <a:srgbClr val="F8FAFC"/>
                </a:solidFill>
                <a:latin typeface="Consolas"/>
              </a:rPr>
              <a:t>HAjGxuih14imCMaWvCnJQ3nSdWmS8PQKzp74gyAgjsH3</a:t>
            </a:r>
          </a:p>
          <a:p>
            <a:pPr algn="ctr">
              <a:spcBef>
                <a:spcPts val="600"/>
              </a:spcBef>
            </a:pPr>
            <a:r>
              <a:rPr b="1" sz="1200">
                <a:solidFill>
                  <a:srgbClr val="00D4FF"/>
                </a:solidFill>
                <a:latin typeface="Trebuchet MS"/>
              </a:rPr>
              <a:t>OPEN SOURCE REPOSITORY: </a:t>
            </a:r>
            <a:r>
              <a:rPr sz="1200">
                <a:solidFill>
                  <a:srgbClr val="F8FAFC"/>
                </a:solidFill>
                <a:latin typeface="Consolas"/>
              </a:rPr>
              <a:t>github.com/luckysitara/Clock-It</a:t>
            </a:r>
          </a:p>
          <a:p>
            <a:pPr algn="ctr">
              <a:spcBef>
                <a:spcPts val="800"/>
              </a:spcBef>
            </a:pPr>
            <a:r>
              <a:rPr sz="1100">
                <a:solidFill>
                  <a:srgbClr val="CBD5E1"/>
                </a:solidFill>
              </a:rPr>
              <a:t>Built for Solana Seeker · Mobile Wallet Adapter 2.0 · Seed Vault · Pyth Pull Oracles · SKR Staking</a:t>
            </a:r>
          </a:p>
        </p:txBody>
      </p:sp>
      <p:sp>
        <p:nvSpPr>
          <p:cNvPr id="7" name="TextBox 6"/>
          <p:cNvSpPr txBox="1"/>
          <p:nvPr/>
        </p:nvSpPr>
        <p:spPr>
          <a:xfrm>
            <a:off x="1371600" y="5715000"/>
            <a:ext cx="9448495" cy="457200"/>
          </a:xfrm>
          <a:prstGeom prst="rect">
            <a:avLst/>
          </a:prstGeom>
          <a:noFill/>
        </p:spPr>
        <p:txBody>
          <a:bodyPr wrap="none">
            <a:spAutoFit/>
          </a:bodyPr>
          <a:lstStyle/>
          <a:p>
            <a:pPr algn="ctr"/>
            <a:r>
              <a:rPr sz="1400" b="1">
                <a:solidFill>
                  <a:srgbClr val="FFB020"/>
                </a:solidFill>
              </a:rPr>
              <a:t>👉 The Seeker phone is on the table — let's execute a live mainnet micro-loan right now.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